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Executive presentation for 'AI Foundations: Foundations'. This deck summarises the book for leadership and stakeholders.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Artificial intelligence is the discipline of building systems that perceive, reason and act to achieve goals under uncertainty. Modern AI is dominated by machine learning, in which models infer parameters from data rather than from hand-coded rules. Foundational competence spans linear algebra, probability, optimisation, information theory and the engineering practices required to turn a notebook experiment into a governed production service. This book treats AI foundations as a systems discipline: data, models, evaluation and operations are co-designed, and every modelling decision is traced to a measurable business or scientific objective. This volume is written for newcomers building a rigorous base. It progresses from first principles to enterprise-grade design and operations, with every chapter combining theory, architecture, worked examples, runnable code, exercises and assessment. The treatment is deliberately practical: the emphasis throughout is on decisions that hold up in production, backed by measurement rather than intuition.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what the audience will be able to do.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Foundations sits within a rapidly maturing AI landscape in which organisations are moving from experimentation to dependable, governed deployment. The competitive advantage no longer comes from access to models alone but from the engineering and operational discipline that turns capability into reliable, compliant business outcomes. This book situates the subject in that context so readers can connect technical choices to organisational value.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a business perspective, AI Foundations initiatives must be justified by clear value: revenue growth, cost reduction, risk mitigation or improved experience. Leaders should insist on measurable objectives, realistic unit economics that account for inference cost, and a roadmap that sequences capability against risk. The most common failure is not technical but strategic: building capability that is never connected to a decision or workflow that matters.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technical perspective treats AI Foundations as a systems discipline. A foundational AI platform separates four planes: a data plane (ingestion, validation, feature store), a training plane (experiment tracking, distributed training, model registry), a serving plane (low-latency and batch inference, feature retrieval) and a governance plane (lineage, access control, audit). Clean interfaces between planes allow teams to evolve each independently while preserving reproducibility and compliance. Throughout, the book favours clear interfaces, reproducibility and measurement.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Architecturally, a AI Foundations platform is layered into data, model, application and operations planes, each with explicit contracts so they can evolve independently. A model gateway centralises access and control; observability and security are cross-cutting and designed in from the start. Reference architectures and blueprints appear in every chapter and are consolidated in the capstone.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the ai/ml landscape and problem framing within AI Foundations. It covers distinguishing supervised, unsupervised, self-supervised and reinforcement learning; mapping a business problem to a learnable objective; and deciding when not to use machine learning at all,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linear algebra for machine learning within AI Foundations. It covers vectors, matrices, norms, eigendecomposition and the singular value decomposition as the language of representation and dimensionality reduction,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probability, statistics and bayesian reasoning within AI Foundations. It covers random variables, distributions, maximum likelihood, the bias–variance decomposition and calibrated uncertainty as the foundation of trustworthy prediction,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optimisation and gradient descent within AI Foundations. It covers loss surfaces, convexity, stochastic gradient descent, momentum, Adam and learning-rate schedules that make deep networks trainable at scale,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data engineering and feature pipelines within AI Foundations. It covers ingestion, validation, feature stores, leakage prevention and reproducible datasets as the highest-leverage investment in any AI program,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model families and inductive bias within AI Foundations. It covers linear models, trees and ensembles, kernel methods and neural networks, and how their inductive biases suit different data regimes,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neural networks and backpropagation within AI Foundations. It covers perceptrons, activation functions, the chain rule, automatic differentiation and the universal-approximation intuition behind deep learning,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evaluation, metrics and experimental design within AI Foundations. It covers train/validation/test discipline, cross-validation, ROC/PR analysis, statistical significance and the perils of metric gaming,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regularisation and generalisation within AI Foundations. It covers overfitting, weight decay, dropout, early stopping and the modern view of double descent in over-parameterised models,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representation learning and embeddings within AI Foundations. It covers learning compact, transferable representations that power transfer learning and downstream tasks across modalities,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responsible and trustworthy ai by design within AI Foundations. It covers fairness, robustness, privacy and explainability treated as first-class requirements rather than afterthoughts,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from notebook to production within AI Foundations. It covers packaging, serving, monitoring and the operational loop that keeps models performing as data drifts,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scaling laws and compute economics within AI Foundations. It covers how model quality scales with data, parameters and compute, and how to make rational build-versus-buy decisions,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the modern ai stack within AI Foundations. It covers frameworks, accelerators, orchestration and the reference architecture that ties data, training and inference together,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putting it together: a reference implementation within AI Foundations. It covers an end-to-end reference implementation that integrates the components of a AI Foundations system into a cohesive, working whole,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hands-on lab: building an end-to-end ai foundations system within AI Foundations. It covers a guided, build-along laboratory that constructs a functioning AI Foundations system from first principles,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case study: financial services at scale within AI Foundations. It covers a detailed case study of deploying AI Foundations in a demanding financial services environment, including the decisions, trade-offs and outcomes,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operating in production within AI Foundations. It covers the operational discipline required to run a AI Foundations system reliably, including monitoring, incident response and continuous improvement,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evaluation and quality assurance within AI Foundations. It covers a rigorous approach to measuring and assuring the quality of a AI Foundations system before and after release,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security, privacy and governance within AI Foundations. It covers the security, privacy and governance controls that make a AI Foundations system trustworthy and compliant,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cost, performance and scaling within AI Foundations. It covers techniques for controlling cost and latency while scaling a AI Foundations system to production traffic,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integration and interoperability within AI Foundations. It covers patterns for integrating a AI Foundations system with surrounding enterprise systems and data,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trends and research directions within AI Foundations. It covers emerging trends, open problems and research directions shaping the future of AI Foundations,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capstone project within AI Foundations. It covers a substantial capstone project that consolidates the entire book into a portfolio-grade AI Foundations deliverable,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certification preparation and review within AI Foundations. It covers a structured review and certification-style preparation covering the full breadth of AI Foundations,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Governance ensures AI Foundations is developed and used responsibly, legally and in line with organisational values. This book embeds governance as lifecycle gates - risk classification, documentation, approval and monitoring - rather than as a final checkpoint, aligning with frameworks such as the NIST AI RMF, ISO/IEC 42001 and the EU AI Act.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for AI Foundations extends traditional controls with ML-specific defences against prompt injection, data poisoning, model extraction and insecure output handling. Defence in depth - input validation, constrained decoding, output validation, sandboxed tools and continuous monitoring - is applied consistently, mapped to the OWASP LLM Top 10 and MITRE ATLAS.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**Context.** A financial services organisation set out to apply AI Foundations to credit risk scoring with calibrated probabilities and auditable feature lineage for regulators. **Approach.** The team began with a precise objective and an evaluation set, prototyped the simplest viable design, then hardened it with monitoring, security controls and cost budgets. **Outcome.** Measured against the original metric, the system delivered durable value because the surrounding engineering - data quality, evaluation and operations - was treated as seriously as the model itself. **Lessons.** Start with measurement, resist premature complexity, and design governance and observability in from day one.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durable principles from the book.</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and next steps.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194560"/>
            <a:ext cx="10698480" cy="2743200"/>
          </a:xfrm>
          <a:prstGeom prst="rect">
            <a:avLst/>
          </a:prstGeom>
          <a:noFill/>
        </p:spPr>
        <p:txBody>
          <a:bodyPr wrap="square">
            <a:spAutoFit/>
          </a:bodyPr>
          <a:lstStyle/>
          <a:p>
            <a:r>
              <a:rPr sz="4000" b="1">
                <a:solidFill>
                  <a:srgbClr val="4338CA"/>
                </a:solidFill>
              </a:rPr>
              <a:t>AI Foundations: Foundations</a:t>
            </a:r>
          </a:p>
          <a:p>
            <a:r>
              <a:rPr sz="1800">
                <a:solidFill>
                  <a:srgbClr val="475569"/>
                </a:solidFill>
              </a:rPr>
              <a:t>The mathematical and engineering bedrock of modern AI — a foundational guide for newcomers building a rigorous base.</a:t>
            </a:r>
          </a:p>
          <a:p>
            <a:r>
              <a:rPr sz="1300">
                <a:solidFill>
                  <a:srgbClr val="475569"/>
                </a:solidFill>
              </a:rPr>
              <a:t>AI-University Press   |   Priya Narayanan, Dr. Rajesh Gupta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Executive Summary</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Artificial intelligence is the discipline of building systems that perceive, reason and act to achieve goals under uncertainty.</a:t>
            </a:r>
          </a:p>
          <a:p>
            <a:pPr>
              <a:spcAft>
                <a:spcPts val="800"/>
              </a:spcAft>
            </a:pPr>
            <a:r>
              <a:rPr sz="1800">
                <a:solidFill>
                  <a:srgbClr val="0F172A"/>
                </a:solidFill>
              </a:rPr>
              <a:t>• Modern AI is dominated by machine learning, in which models infer parameters from data rather than from hand-coded rules.</a:t>
            </a:r>
          </a:p>
          <a:p>
            <a:pPr>
              <a:spcAft>
                <a:spcPts val="800"/>
              </a:spcAft>
            </a:pPr>
            <a:r>
              <a:rPr sz="1800">
                <a:solidFill>
                  <a:srgbClr val="0F172A"/>
                </a:solidFill>
              </a:rPr>
              <a:t>• Foundational competence spans linear algebra, probability, optimisation, information theory and the engineering practices required to turn a notebook experiment into a governed production service.</a:t>
            </a:r>
          </a:p>
          <a:p>
            <a:pPr>
              <a:spcAft>
                <a:spcPts val="800"/>
              </a:spcAft>
            </a:pPr>
            <a:r>
              <a:rPr sz="1800">
                <a:solidFill>
                  <a:srgbClr val="0F172A"/>
                </a:solidFill>
              </a:rPr>
              <a:t>• This book treats AI foundations as a systems discipline: data, models, evaluation and operations are co-designed, and every modelling decision is traced to a measurable business or scientific objective.</a:t>
            </a:r>
          </a:p>
          <a:p>
            <a:pPr>
              <a:spcAft>
                <a:spcPts val="800"/>
              </a:spcAft>
            </a:pPr>
            <a:r>
              <a:rPr sz="1800">
                <a:solidFill>
                  <a:srgbClr val="0F172A"/>
                </a:solidFill>
              </a:rPr>
              <a:t>• This volume is written for newcomers building a rigorous base.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Learning Objectives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Explain the foundational principles of AI Foundations and articulate where it creates value.</a:t>
            </a:r>
          </a:p>
          <a:p>
            <a:pPr>
              <a:spcAft>
                <a:spcPts val="800"/>
              </a:spcAft>
            </a:pPr>
            <a:r>
              <a:rPr sz="1800">
                <a:solidFill>
                  <a:srgbClr val="0F172A"/>
                </a:solidFill>
              </a:rPr>
              <a:t>• Design a reference architecture for a AI Foundations system that meets enterprise quality attributes.</a:t>
            </a:r>
          </a:p>
          <a:p>
            <a:pPr>
              <a:spcAft>
                <a:spcPts val="800"/>
              </a:spcAft>
            </a:pPr>
            <a:r>
              <a:rPr sz="1800">
                <a:solidFill>
                  <a:srgbClr val="0F172A"/>
                </a:solidFill>
              </a:rPr>
              <a:t>• Implement core AI Foundations components following production engineering standards.</a:t>
            </a:r>
          </a:p>
          <a:p>
            <a:pPr>
              <a:spcAft>
                <a:spcPts val="800"/>
              </a:spcAft>
            </a:pPr>
            <a:r>
              <a:rPr sz="1800">
                <a:solidFill>
                  <a:srgbClr val="0F172A"/>
                </a:solidFill>
              </a:rPr>
              <a:t>• Evaluate AI Foundations systems rigorously and gate releases on measurable quality.</a:t>
            </a:r>
          </a:p>
          <a:p>
            <a:pPr>
              <a:spcAft>
                <a:spcPts val="800"/>
              </a:spcAft>
            </a:pPr>
            <a:r>
              <a:rPr sz="1800">
                <a:solidFill>
                  <a:srgbClr val="0F172A"/>
                </a:solidFill>
              </a:rPr>
              <a:t>• Apply security, privacy and governance controls appropriate to AI Foundations.</a:t>
            </a:r>
          </a:p>
          <a:p>
            <a:pPr>
              <a:spcAft>
                <a:spcPts val="800"/>
              </a:spcAft>
            </a:pPr>
            <a:r>
              <a:rPr sz="1800">
                <a:solidFill>
                  <a:srgbClr val="0F172A"/>
                </a:solidFill>
              </a:rPr>
              <a:t>• Operate AI Foundations systems reliably, controlling cost, latency and drift.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Industry Context</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AI Foundations sits within a rapidly maturing AI landscape in which organisations are moving from experimentation to dependable, governed deployment.</a:t>
            </a:r>
          </a:p>
          <a:p>
            <a:pPr>
              <a:spcAft>
                <a:spcPts val="800"/>
              </a:spcAft>
            </a:pPr>
            <a:r>
              <a:rPr sz="1800">
                <a:solidFill>
                  <a:srgbClr val="0F172A"/>
                </a:solidFill>
              </a:rPr>
              <a:t>• The competitive advantage no longer comes from access to models alone but from the engineering and operational discipline that turns capability into reliable, compliant business outcomes.</a:t>
            </a:r>
          </a:p>
          <a:p>
            <a:pPr>
              <a:spcAft>
                <a:spcPts val="800"/>
              </a:spcAft>
            </a:pPr>
            <a:r>
              <a:rPr sz="1800">
                <a:solidFill>
                  <a:srgbClr val="0F172A"/>
                </a:solidFill>
              </a:rPr>
              <a:t>• This book situates the subject in that context so readers can connect technical choices to organisational value.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Business Perspective</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From a business perspective, AI Foundations initiatives must be justified by clear value: revenue growth, cost reduction, risk mitigation or improved experience.</a:t>
            </a:r>
          </a:p>
          <a:p>
            <a:pPr>
              <a:spcAft>
                <a:spcPts val="800"/>
              </a:spcAft>
            </a:pPr>
            <a:r>
              <a:rPr sz="1800">
                <a:solidFill>
                  <a:srgbClr val="0F172A"/>
                </a:solidFill>
              </a:rPr>
              <a:t>• Leaders should insist on measurable objectives, realistic unit economics that account for inference cost, and a roadmap that sequences capability against risk.</a:t>
            </a:r>
          </a:p>
          <a:p>
            <a:pPr>
              <a:spcAft>
                <a:spcPts val="800"/>
              </a:spcAft>
            </a:pPr>
            <a:r>
              <a:rPr sz="1800">
                <a:solidFill>
                  <a:srgbClr val="0F172A"/>
                </a:solidFill>
              </a:rPr>
              <a:t>• The most common failure is not technical but strategic: building capability that is never connected to a decision or workflow that matters.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Technology Overview</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The technical perspective treats AI Foundations as a systems discipline.</a:t>
            </a:r>
          </a:p>
          <a:p>
            <a:pPr>
              <a:spcAft>
                <a:spcPts val="800"/>
              </a:spcAft>
            </a:pPr>
            <a:r>
              <a:rPr sz="1800">
                <a:solidFill>
                  <a:srgbClr val="0F172A"/>
                </a:solidFill>
              </a:rPr>
              <a:t>• A foundational AI platform separates four planes: a data plane (ingestion, validation, feature store), a training plane (experiment tracking, distributed training, model registry), a serving plane (low-latency and batch inference, feature retrieval) and a governance plane (lineage, access control, audit).</a:t>
            </a:r>
          </a:p>
          <a:p>
            <a:pPr>
              <a:spcAft>
                <a:spcPts val="800"/>
              </a:spcAft>
            </a:pPr>
            <a:r>
              <a:rPr sz="1800">
                <a:solidFill>
                  <a:srgbClr val="0F172A"/>
                </a:solidFill>
              </a:rPr>
              <a:t>• Clean interfaces between planes allow teams to evolve each independently while preserving reproducibility and compliance.</a:t>
            </a:r>
          </a:p>
          <a:p>
            <a:pPr>
              <a:spcAft>
                <a:spcPts val="800"/>
              </a:spcAft>
            </a:pPr>
            <a:r>
              <a:rPr sz="1800">
                <a:solidFill>
                  <a:srgbClr val="0F172A"/>
                </a:solidFill>
              </a:rPr>
              <a:t>• Throughout, the book favours clear interfaces, reproducibility and measurement.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Architecture Perspective</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Architecturally, a AI Foundations platform is layered into data, model, application and operations planes, each with explicit contracts so they can evolve independently.</a:t>
            </a:r>
          </a:p>
          <a:p>
            <a:pPr>
              <a:spcAft>
                <a:spcPts val="800"/>
              </a:spcAft>
            </a:pPr>
            <a:r>
              <a:rPr sz="1800">
                <a:solidFill>
                  <a:srgbClr val="0F172A"/>
                </a:solidFill>
              </a:rPr>
              <a:t>• A model gateway centralises access and control; observability and security are cross-cutting and designed in from the start.</a:t>
            </a:r>
          </a:p>
          <a:p>
            <a:pPr>
              <a:spcAft>
                <a:spcPts val="800"/>
              </a:spcAft>
            </a:pPr>
            <a:r>
              <a:rPr sz="1800">
                <a:solidFill>
                  <a:srgbClr val="0F172A"/>
                </a:solidFill>
              </a:rPr>
              <a:t>• Reference architectures and blueprints appear in every chapter and are consolidated in the capstone.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 The AI/ML Landscape and Problem Framing</a:t>
            </a:r>
          </a:p>
          <a:p>
            <a:r>
              <a:rPr sz="1500">
                <a:solidFill>
                  <a:srgbClr val="475569"/>
                </a:solidFill>
              </a:rPr>
              <a:t>AI Foundations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the ai/ml landscape and problem framing within AI Foundations. It covers distinguishing supervised, unsupervised, self-supervised and reinforcement learning; mapping a business problem to a learnable objective; and deciding when not to use machine learning at all,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 Linear Algebra for Machine Learning</a:t>
            </a:r>
          </a:p>
          <a:p>
            <a:r>
              <a:rPr sz="1500">
                <a:solidFill>
                  <a:srgbClr val="475569"/>
                </a:solidFill>
              </a:rPr>
              <a:t>AI Foundations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linear algebra for machine learning within AI Foundations. It covers vectors, matrices, norms, eigendecomposition and the singular value decomposition as the language of representation and dimensionality reduction,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3: Probability, Statistics and Bayesian Reasoning</a:t>
            </a:r>
          </a:p>
          <a:p>
            <a:r>
              <a:rPr sz="1500">
                <a:solidFill>
                  <a:srgbClr val="475569"/>
                </a:solidFill>
              </a:rPr>
              <a:t>AI Foundations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probability, statistics and bayesian reasoning within AI Foundations. It covers random variables, distributions, maximum likelihood, the bias–variance decomposition and calibrated uncertainty as the foundation of trustworthy prediction,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4: Optimisation and Gradient Descent</a:t>
            </a:r>
          </a:p>
          <a:p>
            <a:r>
              <a:rPr sz="1500">
                <a:solidFill>
                  <a:srgbClr val="475569"/>
                </a:solidFill>
              </a:rPr>
              <a:t>AI Foundations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optimisation and gradient descent within AI Foundations. It covers loss surfaces, convexity, stochastic gradient descent, momentum, Adam and learning-rate schedules that make deep networks trainable at scale,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5: Data Engineering and Feature Pipelines</a:t>
            </a:r>
          </a:p>
          <a:p>
            <a:r>
              <a:rPr sz="1500">
                <a:solidFill>
                  <a:srgbClr val="475569"/>
                </a:solidFill>
              </a:rPr>
              <a:t>AI Foundations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data engineering and feature pipelines within AI Foundations. It covers ingestion, validation, feature stores, leakage prevention and reproducible datasets as the highest-leverage investment in any AI program,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6: Model Families and Inductive Bias</a:t>
            </a:r>
          </a:p>
          <a:p>
            <a:r>
              <a:rPr sz="1500">
                <a:solidFill>
                  <a:srgbClr val="475569"/>
                </a:solidFill>
              </a:rPr>
              <a:t>AI Foundations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model families and inductive bias within AI Foundations. It covers linear models, trees and ensembles, kernel methods and neural networks, and how their inductive biases suit different data regimes,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7: Neural Networks and Backpropagation</a:t>
            </a:r>
          </a:p>
          <a:p>
            <a:r>
              <a:rPr sz="1500">
                <a:solidFill>
                  <a:srgbClr val="475569"/>
                </a:solidFill>
              </a:rPr>
              <a:t>AI Foundations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neural networks and backpropagation within AI Foundations. It covers perceptrons, activation functions, the chain rule, automatic differentiation and the universal-approximation intuition behind deep learning,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8: Evaluation, Metrics and Experimental Design</a:t>
            </a:r>
          </a:p>
          <a:p>
            <a:r>
              <a:rPr sz="1500">
                <a:solidFill>
                  <a:srgbClr val="475569"/>
                </a:solidFill>
              </a:rPr>
              <a:t>AI Foundations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evaluation, metrics and experimental design within AI Foundations. It covers train/validation/test discipline, cross-validation, ROC/PR analysis, statistical significance and the perils of metric gaming,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9: Regularisation and Generalisation</a:t>
            </a:r>
          </a:p>
          <a:p>
            <a:r>
              <a:rPr sz="1500">
                <a:solidFill>
                  <a:srgbClr val="475569"/>
                </a:solidFill>
              </a:rPr>
              <a:t>AI Foundations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regularisation and generalisation within AI Foundations. It covers overfitting, weight decay, dropout, early stopping and the modern view of double descent in over-parameterised models,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10: Representation Learning and Embeddings</a:t>
            </a:r>
          </a:p>
          <a:p>
            <a:r>
              <a:rPr sz="1500">
                <a:solidFill>
                  <a:srgbClr val="475569"/>
                </a:solidFill>
              </a:rPr>
              <a:t>AI Foundations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representation learning and embeddings within AI Foundations. It covers learning compact, transferable representations that power transfer learning and downstream tasks across modalities,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11: Responsible and Trustworthy AI by Design</a:t>
            </a:r>
          </a:p>
          <a:p>
            <a:r>
              <a:rPr sz="1500">
                <a:solidFill>
                  <a:srgbClr val="475569"/>
                </a:solidFill>
              </a:rPr>
              <a:t>AI Foundations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responsible and trustworthy ai by design within AI Foundations. It covers fairness, robustness, privacy and explainability treated as first-class requirements rather than afterthoughts,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12: From Notebook to Production</a:t>
            </a:r>
          </a:p>
          <a:p>
            <a:r>
              <a:rPr sz="1500">
                <a:solidFill>
                  <a:srgbClr val="475569"/>
                </a:solidFill>
              </a:rPr>
              <a:t>AI Foundations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from notebook to production within AI Foundations. It covers packaging, serving, monitoring and the operational loop that keeps models performing as data drifts,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13: Scaling Laws and Compute Economics</a:t>
            </a:r>
          </a:p>
          <a:p>
            <a:r>
              <a:rPr sz="1500">
                <a:solidFill>
                  <a:srgbClr val="475569"/>
                </a:solidFill>
              </a:rPr>
              <a:t>AI Foundations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scaling laws and compute economics within AI Foundations. It covers how model quality scales with data, parameters and compute, and how to make rational build-versus-buy decisions,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14: The Modern AI Stack</a:t>
            </a:r>
          </a:p>
          <a:p>
            <a:r>
              <a:rPr sz="1500">
                <a:solidFill>
                  <a:srgbClr val="475569"/>
                </a:solidFill>
              </a:rPr>
              <a:t>AI Foundations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the modern ai stack within AI Foundations. It covers frameworks, accelerators, orchestration and the reference architecture that ties data, training and inference together,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15: Putting It Together: A Reference Implementation</a:t>
            </a:r>
          </a:p>
          <a:p>
            <a:r>
              <a:rPr sz="1500">
                <a:solidFill>
                  <a:srgbClr val="475569"/>
                </a:solidFill>
              </a:rPr>
              <a:t>AI Foundations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putting it together: a reference implementation within AI Foundations. It covers an end-to-end reference implementation that integrates the components of a AI Foundations system into a cohesive, working whole,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16: Hands-On Lab: Building an End-to-End AI Foundations System</a:t>
            </a:r>
          </a:p>
          <a:p>
            <a:r>
              <a:rPr sz="1500">
                <a:solidFill>
                  <a:srgbClr val="475569"/>
                </a:solidFill>
              </a:rPr>
              <a:t>AI Foundations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hands-on lab: building an end-to-end ai foundations system within AI Foundations. It covers a guided, build-along laboratory that constructs a functioning AI Foundations system from first principles,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17: Case Study: Financial Services at Scale</a:t>
            </a:r>
          </a:p>
          <a:p>
            <a:r>
              <a:rPr sz="1500">
                <a:solidFill>
                  <a:srgbClr val="475569"/>
                </a:solidFill>
              </a:rPr>
              <a:t>AI Foundations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case study: financial services at scale within AI Foundations. It covers a detailed case study of deploying AI Foundations in a demanding financial services environment, including the decisions, trade-offs and outcomes,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18: Operating in Production</a:t>
            </a:r>
          </a:p>
          <a:p>
            <a:r>
              <a:rPr sz="1500">
                <a:solidFill>
                  <a:srgbClr val="475569"/>
                </a:solidFill>
              </a:rPr>
              <a:t>AI Foundations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operating in production within AI Foundations. It covers the operational discipline required to run a AI Foundations system reliably, including monitoring, incident response and continuous improvement,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19: Evaluation and Quality Assurance</a:t>
            </a:r>
          </a:p>
          <a:p>
            <a:r>
              <a:rPr sz="1500">
                <a:solidFill>
                  <a:srgbClr val="475569"/>
                </a:solidFill>
              </a:rPr>
              <a:t>AI Foundations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evaluation and quality assurance within AI Foundations. It covers a rigorous approach to measuring and assuring the quality of a AI Foundations system before and after release,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20: Security, Privacy and Governance</a:t>
            </a:r>
          </a:p>
          <a:p>
            <a:r>
              <a:rPr sz="1500">
                <a:solidFill>
                  <a:srgbClr val="475569"/>
                </a:solidFill>
              </a:rPr>
              <a:t>AI Foundations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security, privacy and governance within AI Foundations. It covers the security, privacy and governance controls that make a AI Foundations system trustworthy and compliant,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21: Cost, Performance and Scaling</a:t>
            </a:r>
          </a:p>
          <a:p>
            <a:r>
              <a:rPr sz="1500">
                <a:solidFill>
                  <a:srgbClr val="475569"/>
                </a:solidFill>
              </a:rPr>
              <a:t>AI Foundations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cost, performance and scaling within AI Foundations. It covers techniques for controlling cost and latency while scaling a AI Foundations system to production traffic,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22: Integration and Interoperability</a:t>
            </a:r>
          </a:p>
          <a:p>
            <a:r>
              <a:rPr sz="1500">
                <a:solidFill>
                  <a:srgbClr val="475569"/>
                </a:solidFill>
              </a:rPr>
              <a:t>AI Foundations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integration and interoperability within AI Foundations. It covers patterns for integrating a AI Foundations system with surrounding enterprise systems and data,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23: Trends and Research Directions</a:t>
            </a:r>
          </a:p>
          <a:p>
            <a:r>
              <a:rPr sz="1500">
                <a:solidFill>
                  <a:srgbClr val="475569"/>
                </a:solidFill>
              </a:rPr>
              <a:t>AI Foundations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trends and research directions within AI Foundations. It covers emerging trends, open problems and research directions shaping the future of AI Foundations,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24: Capstone Project</a:t>
            </a:r>
          </a:p>
          <a:p>
            <a:r>
              <a:rPr sz="1500">
                <a:solidFill>
                  <a:srgbClr val="475569"/>
                </a:solidFill>
              </a:rPr>
              <a:t>AI Foundations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capstone project within AI Foundations. It covers a substantial capstone project that consolidates the entire book into a portfolio-grade AI Foundations deliverable,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25: Certification Preparation and Review</a:t>
            </a:r>
          </a:p>
          <a:p>
            <a:r>
              <a:rPr sz="1500">
                <a:solidFill>
                  <a:srgbClr val="475569"/>
                </a:solidFill>
              </a:rPr>
              <a:t>AI Foundations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certification preparation and review within AI Foundations. It covers a structured review and certification-style preparation covering the full breadth of AI Foundations,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Governance &amp; Responsible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Governance ensures AI Foundations is developed and used responsibly, legally and in line with organisational values.</a:t>
            </a:r>
          </a:p>
          <a:p>
            <a:pPr>
              <a:spcAft>
                <a:spcPts val="800"/>
              </a:spcAft>
            </a:pPr>
            <a:r>
              <a:rPr sz="1800">
                <a:solidFill>
                  <a:srgbClr val="0F172A"/>
                </a:solidFill>
              </a:rPr>
              <a:t>• This book embeds governance as lifecycle gates - risk classification, documentation, approval and monitoring - rather than as a final checkpoint, aligning with frameworks such as the NIST AI RMF, ISO/IEC 42001 and the EU AI Act.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Security Perspective</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Security for AI Foundations extends traditional controls with ML-specific defences against prompt injection, data poisoning, model extraction and insecure output handling.</a:t>
            </a:r>
          </a:p>
          <a:p>
            <a:pPr>
              <a:spcAft>
                <a:spcPts val="800"/>
              </a:spcAft>
            </a:pPr>
            <a:r>
              <a:rPr sz="1800">
                <a:solidFill>
                  <a:srgbClr val="0F172A"/>
                </a:solidFill>
              </a:rPr>
              <a:t>• Defence in depth - input validation, constrained decoding, output validation, sandboxed tools and continuous monitoring - is applied consistently, mapped to the OWASP LLM Top 10 and MITRE ATLAS.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Financial Services: AI Foundations in Practice</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**Context.** A financial services organisation set out to apply AI Foundations to credit risk scoring with calibrated probabilities and auditable feature lineage for regulators.</a:t>
            </a:r>
          </a:p>
          <a:p>
            <a:pPr>
              <a:spcAft>
                <a:spcPts val="800"/>
              </a:spcAft>
            </a:pPr>
            <a:r>
              <a:rPr sz="1800">
                <a:solidFill>
                  <a:srgbClr val="0F172A"/>
                </a:solidFill>
              </a:rPr>
              <a:t>• **Approach.** The team began with a precise objective and an evaluation set, prototyped the simplest viable design, then hardened it with monitoring, security controls and cost budgets.</a:t>
            </a:r>
          </a:p>
          <a:p>
            <a:pPr>
              <a:spcAft>
                <a:spcPts val="800"/>
              </a:spcAft>
            </a:pPr>
            <a:r>
              <a:rPr sz="1800">
                <a:solidFill>
                  <a:srgbClr val="0F172A"/>
                </a:solidFill>
              </a:rPr>
              <a:t>• **Outcome.** Measured against the original metric, the system delivered durable value because the surrounding engineering - data quality, evaluation and operations - was treated as seriously as the model itself.</a:t>
            </a:r>
          </a:p>
          <a:p>
            <a:pPr>
              <a:spcAft>
                <a:spcPts val="800"/>
              </a:spcAft>
            </a:pPr>
            <a:r>
              <a:rPr sz="1800">
                <a:solidFill>
                  <a:srgbClr val="0F172A"/>
                </a:solidFill>
              </a:rPr>
              <a:t>• **Lessons.** Start with measurement, resist premature complexity, and design governance and observability in from day one.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Key Takeaways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Treat AI as a systems discipline: data, models and operations together.</a:t>
            </a:r>
          </a:p>
          <a:p>
            <a:pPr>
              <a:spcAft>
                <a:spcPts val="800"/>
              </a:spcAft>
            </a:pPr>
            <a:r>
              <a:rPr sz="1800">
                <a:solidFill>
                  <a:srgbClr val="0F172A"/>
                </a:solidFill>
              </a:rPr>
              <a:t>• Measure everything; gate releases on evaluation, not intuition.</a:t>
            </a:r>
          </a:p>
          <a:p>
            <a:pPr>
              <a:spcAft>
                <a:spcPts val="800"/>
              </a:spcAft>
            </a:pPr>
            <a:r>
              <a:rPr sz="1800">
                <a:solidFill>
                  <a:srgbClr val="0F172A"/>
                </a:solidFill>
              </a:rPr>
              <a:t>• Design security, governance and cost controls in from the start.</a:t>
            </a:r>
          </a:p>
          <a:p>
            <a:pPr>
              <a:spcAft>
                <a:spcPts val="800"/>
              </a:spcAft>
            </a:pPr>
            <a:r>
              <a:rPr sz="1800">
                <a:solidFill>
                  <a:srgbClr val="0F172A"/>
                </a:solidFill>
              </a:rPr>
              <a:t>• Prefer the simplest design that meets the requirement.</a:t>
            </a:r>
          </a:p>
          <a:p>
            <a:pPr>
              <a:spcAft>
                <a:spcPts val="800"/>
              </a:spcAft>
            </a:pPr>
            <a:r>
              <a:rPr sz="1800">
                <a:solidFill>
                  <a:srgbClr val="0F172A"/>
                </a:solidFill>
              </a:rPr>
              <a:t>• Operate continuously: monitor, learn and improve.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Thank You</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AI Foundations: Foundations</a:t>
            </a:r>
          </a:p>
          <a:p>
            <a:pPr>
              <a:spcAft>
                <a:spcPts val="800"/>
              </a:spcAft>
            </a:pPr>
            <a:r>
              <a:rPr sz="1800">
                <a:solidFill>
                  <a:srgbClr val="0F172A"/>
                </a:solidFill>
              </a:rPr>
              <a:t>• AI-University Press — Enterprise AI Knowledge Series</a:t>
            </a:r>
          </a:p>
          <a:p>
            <a:pPr>
              <a:spcAft>
                <a:spcPts val="800"/>
              </a:spcAft>
            </a:pPr>
            <a:r>
              <a:rPr sz="1800">
                <a:solidFill>
                  <a:srgbClr val="0F172A"/>
                </a:solidFill>
              </a:rPr>
              <a:t>• ISBN 978-4-19601-029-6  |  v1.0.0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