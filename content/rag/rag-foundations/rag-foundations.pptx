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presentation for 'RAG: Foundations'. This deck summarises the book for leadership and stakeholders.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Retrieval-augmented generation grounds a language model in external knowledge by retrieving relevant context at query time and conditioning generation on it. RAG reduces hallucination, enables citation, keeps answers current and lets organisations leverage proprietary data without retraining. This book covers the full RAG lifecycle: ingestion and chunking, retrieval and re-ranking, prompt assembly, evaluation and production operations. This volume is written for newcomers building a rigorous base. It progresses from first principles to enterprise-grade design and operations, with every chapter combining theory, architecture, worked examples, runnable code, exercises and assessment. The treatment is deliberately practical: the emphasis throughout is on decisions that hold up in production, backed by measurement rather than intuition.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what the audience will be able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sits within a rapidly maturing AI landscape in which organisations are moving from experimentation to dependable, governed deployment. The competitive advantage no longer comes from access to models alone but from the engineering and operational discipline that turns capability into reliable, compliant business outcomes. This book situates the subject in that context so readers can connect technical choices to organisational value.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business perspective, RAG initiatives must be justified by clear value: revenue growth, cost reduction, risk mitigation or improved experience. Leaders should insist on measurable objectives, realistic unit economics that account for inference cost, and a roadmap that sequences capability against risk. The most common failure is not technical but strategic: building capability that is never connected to a decision or workflow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technical perspective treats RAG as a systems discipline. A RAG system has an offline ingestion pipeline (parse → chunk → embed → index) and an online query pipeline (query transform → hybrid retrieve → re-rank → assemble prompt → generate → cite). Access control filters retrieval by user permissions, and an evaluation service continuously scores faithfulness and relevance on sampled traffic. Throughout, the book favours clear interfaces, reproducibility and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Architecturally, a RAG platform is layered into data, model, application and operations planes, each with explicit contracts so they can evolve independently. A model gateway centralises access and control; observability and security are cross-cutting and designed in from the start. Reference architectures and blueprints appear in every chapter and are consolidated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why rag: grounding and freshness within RAG. It covers the limits of parametric knowledge and the case for retrieval,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document ingestion and chunking within RAG. It covers parsing, semantic chunking, overlap and metadata extraction,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embedding and indexing strategy within RAG. It covers choosing models, dimensions and index types for the corpus,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retrieval and query transformation within RAG. It covers query rewriting, HyDE, multi-query and hybrid search,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re-ranking and context selection within RAG. It covers cross-encoders, maximal marginal relevance and context budgeting,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prompt assembly and citation within RAG. It covers grounding instructions, source attribution and refusal on low confidence,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advanced rag patterns within RAG. It covers parent-document, sentence-window, fusion and agentic retrieval,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of rag systems within RAG. It covers faithfulness, answer relevance, context precision/recall (RAGAS-style),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handling tables, images and code within RAG. It covers multimodal and structured-content retrieval,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caching and cost optimisation within RAG. It covers semantic caching and retrieval reuse,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and access control in rag within RAG. It covers row-level permissions and preventing data leakage across tenants,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rag in production within RAG. It covers monitoring retrieval quality, drift and feedback loops,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failure modes and debugging within RAG. It covers diagnosing retrieval versus generation failures,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the end-to-end rag reference architecture within RAG. It covers a production blueprint from ingestion to answer,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putting it together: a reference implementation within RAG. It covers an end-to-end reference implementation that integrates the components of a RAG system into a cohesive, working whole,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hands-on lab: building an end-to-end rag system within RAG. It covers a guided, build-along laboratory that constructs a functioning RAG system from first principles,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case study: enterprise at scale within RAG. It covers a detailed case study of deploying RAG in a demanding enterprise environment, including the decisions, trade-offs and outcomes,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operating in production within RAG. It covers the operational discipline required to run a RAG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evaluation and quality assurance within RAG. It covers a rigorous approach to measuring and assuring the quality of a RAG system before and after release,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security, privacy and governance within RAG. It covers the security, privacy and governance controls that make a RAG system trustworthy and compliant,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cost, performance and scaling within RAG. It covers techniques for controlling cost and latency while scaling a RAG system to production traffic,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integration and interoperability within RAG. It covers patterns for integrating a RAG system with surrounding enterprise systems and data,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trends and research directions within RAG. It covers emerging trends, open problems and research directions shaping the future of RAG,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capstone project within RAG. It covers a substantial capstone project that consolidates the entire book into a portfolio-grade RAG deliverable,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examines certification preparation and review within RAG. It covers a structured review and certification-style preparation covering the full breadth of RAG, derives a reference architecture, walks through a worked example and runnable code, surveys industry use cases, and distils best practices and pitfalls, closing with exercises and review questions.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Governance ensures RAG is developed and used responsibly, legally and in line with organisational values. This book embeds governance as lifecycle gates - risk classification, documentation, approval and monitoring - rather than as a final checkpoint, aligning with frameworks such as the NIST AI RMF, ISO/IEC 42001 and the EU AI Act.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for RAG extends traditional controls with ML-specific defences against prompt injection, data poisoning, model extraction and insecure output handling. Defence in depth - input validation, constrained decoding, output validation, sandboxed tools and continuous monitoring - is applied consistently, mapped to the OWASP LLM Top 10 and MITRE ATLAS.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**Context.** A enterprise organisation set out to apply RAG to grounded internal Q&amp;A over policies and wikis with citations. **Approach.** The team began with a precise objective and an evaluation set, prototyped the simplest viable design, then hardened it with monitoring, security controls and cost budgets. **Outcome.** Measured against the original metric, the system delivered durable value because the surrounding engineering - data quality, evaluation and operations - was treated as seriously as the model itself. **Lessons.** Start with measurement, resist premature complexity, and design governance and observability in from day 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durable principles from the book.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and next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743200"/>
          </a:xfrm>
          <a:prstGeom prst="rect">
            <a:avLst/>
          </a:prstGeom>
          <a:noFill/>
        </p:spPr>
        <p:txBody>
          <a:bodyPr wrap="square">
            <a:spAutoFit/>
          </a:bodyPr>
          <a:lstStyle/>
          <a:p>
            <a:r>
              <a:rPr sz="4000" b="1">
                <a:solidFill>
                  <a:srgbClr val="4338CA"/>
                </a:solidFill>
              </a:rPr>
              <a:t>RAG: Foundations</a:t>
            </a:r>
          </a:p>
          <a:p>
            <a:r>
              <a:rPr sz="1800">
                <a:solidFill>
                  <a:srgbClr val="475569"/>
                </a:solidFill>
              </a:rPr>
              <a:t>Retrieval-augmented generation for grounded, current answers — a foundational guide for newcomers building a rigorous base.</a:t>
            </a:r>
          </a:p>
          <a:p>
            <a:r>
              <a:rPr sz="1300">
                <a:solidFill>
                  <a:srgbClr val="475569"/>
                </a:solidFill>
              </a:rPr>
              <a:t>AI-University Press   |   Dr. Elena Petrova, The AI-University Faculty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Executive Summary</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Retrieval-augmented generation grounds a language model in external knowledge by retrieving relevant context at query time and conditioning generation on it.</a:t>
            </a:r>
          </a:p>
          <a:p>
            <a:pPr>
              <a:spcAft>
                <a:spcPts val="800"/>
              </a:spcAft>
            </a:pPr>
            <a:r>
              <a:rPr sz="1800">
                <a:solidFill>
                  <a:srgbClr val="0F172A"/>
                </a:solidFill>
              </a:rPr>
              <a:t>• RAG reduces hallucination, enables citation, keeps answers current and lets organisations leverage proprietary data without retraining.</a:t>
            </a:r>
          </a:p>
          <a:p>
            <a:pPr>
              <a:spcAft>
                <a:spcPts val="800"/>
              </a:spcAft>
            </a:pPr>
            <a:r>
              <a:rPr sz="1800">
                <a:solidFill>
                  <a:srgbClr val="0F172A"/>
                </a:solidFill>
              </a:rPr>
              <a:t>• This book covers the full RAG lifecycle: ingestion and chunking, retrieval and re-ranking, prompt assembly, evaluation and production operations.</a:t>
            </a:r>
          </a:p>
          <a:p>
            <a:pPr>
              <a:spcAft>
                <a:spcPts val="800"/>
              </a:spcAft>
            </a:pPr>
            <a:r>
              <a:rPr sz="1800">
                <a:solidFill>
                  <a:srgbClr val="0F172A"/>
                </a:solidFill>
              </a:rPr>
              <a:t>• This volume is written for newcomers building a rigorous base.</a:t>
            </a:r>
          </a:p>
          <a:p>
            <a:pPr>
              <a:spcAft>
                <a:spcPts val="800"/>
              </a:spcAft>
            </a:pPr>
            <a:r>
              <a:rPr sz="1800">
                <a:solidFill>
                  <a:srgbClr val="0F172A"/>
                </a:solidFill>
              </a:rPr>
              <a:t>• It progresses from first principles to enterprise-grade design and operations, with every chapter combining theory, architecture, worked examples, runnable code, exercises and assessment.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Learning Objectives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Explain the foundational principles of RAG and articulate where it creates value.</a:t>
            </a:r>
          </a:p>
          <a:p>
            <a:pPr>
              <a:spcAft>
                <a:spcPts val="800"/>
              </a:spcAft>
            </a:pPr>
            <a:r>
              <a:rPr sz="1800">
                <a:solidFill>
                  <a:srgbClr val="0F172A"/>
                </a:solidFill>
              </a:rPr>
              <a:t>• Design a reference architecture for a RAG system that meets enterprise quality attributes.</a:t>
            </a:r>
          </a:p>
          <a:p>
            <a:pPr>
              <a:spcAft>
                <a:spcPts val="800"/>
              </a:spcAft>
            </a:pPr>
            <a:r>
              <a:rPr sz="1800">
                <a:solidFill>
                  <a:srgbClr val="0F172A"/>
                </a:solidFill>
              </a:rPr>
              <a:t>• Implement core RAG components following production engineering standards.</a:t>
            </a:r>
          </a:p>
          <a:p>
            <a:pPr>
              <a:spcAft>
                <a:spcPts val="800"/>
              </a:spcAft>
            </a:pPr>
            <a:r>
              <a:rPr sz="1800">
                <a:solidFill>
                  <a:srgbClr val="0F172A"/>
                </a:solidFill>
              </a:rPr>
              <a:t>• Evaluate RAG systems rigorously and gate releases on measurable quality.</a:t>
            </a:r>
          </a:p>
          <a:p>
            <a:pPr>
              <a:spcAft>
                <a:spcPts val="800"/>
              </a:spcAft>
            </a:pPr>
            <a:r>
              <a:rPr sz="1800">
                <a:solidFill>
                  <a:srgbClr val="0F172A"/>
                </a:solidFill>
              </a:rPr>
              <a:t>• Apply security, privacy and governance controls appropriate to RAG.</a:t>
            </a:r>
          </a:p>
          <a:p>
            <a:pPr>
              <a:spcAft>
                <a:spcPts val="800"/>
              </a:spcAft>
            </a:pPr>
            <a:r>
              <a:rPr sz="1800">
                <a:solidFill>
                  <a:srgbClr val="0F172A"/>
                </a:solidFill>
              </a:rPr>
              <a:t>• Operate RAG systems reliably, controlling cost, latency and drift.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Industry Context</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RAG sits within a rapidly maturing AI landscape in which organisations are moving from experimentation to dependable, governed deployment.</a:t>
            </a:r>
          </a:p>
          <a:p>
            <a:pPr>
              <a:spcAft>
                <a:spcPts val="800"/>
              </a:spcAft>
            </a:pPr>
            <a:r>
              <a:rPr sz="1800">
                <a:solidFill>
                  <a:srgbClr val="0F172A"/>
                </a:solidFill>
              </a:rPr>
              <a:t>• The competitive advantage no longer comes from access to models alone but from the engineering and operational discipline that turns capability into reliable, compliant business outcomes.</a:t>
            </a:r>
          </a:p>
          <a:p>
            <a:pPr>
              <a:spcAft>
                <a:spcPts val="800"/>
              </a:spcAft>
            </a:pPr>
            <a:r>
              <a:rPr sz="1800">
                <a:solidFill>
                  <a:srgbClr val="0F172A"/>
                </a:solidFill>
              </a:rPr>
              <a:t>• This book situates the subject in that context so readers can connect technical choices to organisational value.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Business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From a business perspective, RAG initiatives must be justified by clear value: revenue growth, cost reduction, risk mitigation or improved experience.</a:t>
            </a:r>
          </a:p>
          <a:p>
            <a:pPr>
              <a:spcAft>
                <a:spcPts val="800"/>
              </a:spcAft>
            </a:pPr>
            <a:r>
              <a:rPr sz="1800">
                <a:solidFill>
                  <a:srgbClr val="0F172A"/>
                </a:solidFill>
              </a:rPr>
              <a:t>• Leaders should insist on measurable objectives, realistic unit economics that account for inference cost, and a roadmap that sequences capability against risk.</a:t>
            </a:r>
          </a:p>
          <a:p>
            <a:pPr>
              <a:spcAft>
                <a:spcPts val="800"/>
              </a:spcAft>
            </a:pPr>
            <a:r>
              <a:rPr sz="1800">
                <a:solidFill>
                  <a:srgbClr val="0F172A"/>
                </a:solidFill>
              </a:rPr>
              <a:t>• The most common failure is not technical but strategic: building capability that is never connected to a decision or workflow that matters.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Technology Overview</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The technical perspective treats RAG as a systems discipline.</a:t>
            </a:r>
          </a:p>
          <a:p>
            <a:pPr>
              <a:spcAft>
                <a:spcPts val="800"/>
              </a:spcAft>
            </a:pPr>
            <a:r>
              <a:rPr sz="1800">
                <a:solidFill>
                  <a:srgbClr val="0F172A"/>
                </a:solidFill>
              </a:rPr>
              <a:t>• A RAG system has an offline ingestion pipeline (parse → chunk → embed → index) and an online query pipeline (query transform → hybrid retrieve → re-rank → assemble prompt → generate → cite).</a:t>
            </a:r>
          </a:p>
          <a:p>
            <a:pPr>
              <a:spcAft>
                <a:spcPts val="800"/>
              </a:spcAft>
            </a:pPr>
            <a:r>
              <a:rPr sz="1800">
                <a:solidFill>
                  <a:srgbClr val="0F172A"/>
                </a:solidFill>
              </a:rPr>
              <a:t>• Access control filters retrieval by user permissions, and an evaluation service continuously scores faithfulness and relevance on sampled traffic.</a:t>
            </a:r>
          </a:p>
          <a:p>
            <a:pPr>
              <a:spcAft>
                <a:spcPts val="800"/>
              </a:spcAft>
            </a:pPr>
            <a:r>
              <a:rPr sz="1800">
                <a:solidFill>
                  <a:srgbClr val="0F172A"/>
                </a:solidFill>
              </a:rPr>
              <a:t>• Throughout, the book favours clear interfaces, reproducibility and measurement.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Architecture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Architecturally, a RAG platform is layered into data, model, application and operations planes, each with explicit contracts so they can evolve independently.</a:t>
            </a:r>
          </a:p>
          <a:p>
            <a:pPr>
              <a:spcAft>
                <a:spcPts val="800"/>
              </a:spcAft>
            </a:pPr>
            <a:r>
              <a:rPr sz="1800">
                <a:solidFill>
                  <a:srgbClr val="0F172A"/>
                </a:solidFill>
              </a:rPr>
              <a:t>• A model gateway centralises access and control; observability and security are cross-cutting and designed in from the start.</a:t>
            </a:r>
          </a:p>
          <a:p>
            <a:pPr>
              <a:spcAft>
                <a:spcPts val="800"/>
              </a:spcAft>
            </a:pPr>
            <a:r>
              <a:rPr sz="1800">
                <a:solidFill>
                  <a:srgbClr val="0F172A"/>
                </a:solidFill>
              </a:rPr>
              <a:t>• Reference architectures and blueprints appear in every chapter and are consolidated in the capstone.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 Why RAG: Grounding and Freshness</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why rag: grounding and freshness within RAG. It covers the limits of parametric knowledge and the case for retrieval,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 Document Ingestion and Chunking</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document ingestion and chunking within RAG. It covers parsing, semantic chunking, overlap and metadata extraction,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3: Embedding and Indexing Strategy</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embedding and indexing strategy within RAG. It covers choosing models, dimensions and index types for the corpus,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4: Retrieval and Query Transformation</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retrieval and query transformation within RAG. It covers query rewriting, HyDE, multi-query and hybrid search,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5: Re-ranking and Context Selection</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re-ranking and context selection within RAG. It covers cross-encoders, maximal marginal relevance and context budgeting,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6: Prompt Assembly and Citation</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prompt assembly and citation within RAG. It covers grounding instructions, source attribution and refusal on low confidence,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7: Advanced RAG Patterns</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advanced rag patterns within RAG. It covers parent-document, sentence-window, fusion and agentic retrieval,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8: Evaluation of RAG Systems</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of rag systems within RAG. It covers faithfulness, answer relevance, context precision/recall (RAGAS-style),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9: Handling Tables, Images and Code</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handling tables, images and code within RAG. It covers multimodal and structured-content retrieval,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10: Caching and Cost Optimisation</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caching and cost optimisation within RAG. It covers semantic caching and retrieval reuse,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11: Security and Access Control in RAG</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and access control in rag within RAG. It covers row-level permissions and preventing data leakage across tenants,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12: Operating RAG in Production</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rag in production within RAG. It covers monitoring retrieval quality, drift and feedback loops,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13: Failure Modes and Debugging</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failure modes and debugging within RAG. It covers diagnosing retrieval versus generation failures,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14: The End-to-End RAG Reference Architecture</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the end-to-end rag reference architecture within RAG. It covers a production blueprint from ingestion to answer,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15: Putting It Together: A Reference Implementation</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putting it together: a reference implementation within RAG. It covers an end-to-end reference implementation that integrates the components of a RAG system into a cohesive, working whole,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16: Hands-On Lab: Building an End-to-End RAG System</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hands-on lab: building an end-to-end rag system within RAG. It covers a guided, build-along laboratory that constructs a functioning RAG system from first principles,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17: Case Study: Enterprise at Scale</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case study: enterprise at scale within RAG. It covers a detailed case study of deploying RAG in a demanding enterprise environment, including the decisions, trade-offs and outcomes,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18: Operating in Production</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operating in production within RAG. It covers the operational discipline required to run a RAG system reliably, including monitoring, incident response and continuous improvement,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19: Evaluation and Quality Assurance</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evaluation and quality assurance within RAG. It covers a rigorous approach to measuring and assuring the quality of a RAG system before and after release,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20: Security, Privacy and Governance</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security, privacy and governance within RAG. It covers the security, privacy and governance controls that make a RAG system trustworthy and compliant,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21: Cost, Performance and Scaling</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cost, performance and scaling within RAG. It covers techniques for controlling cost and latency while scaling a RAG system to production traffic,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22: Integration and Interoperability</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integration and interoperability within RAG. It covers patterns for integrating a RAG system with surrounding enterprise systems and data,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23: Trends and Research Directions</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trends and research directions within RAG. It covers emerging trends, open problems and research directions shaping the future of RAG,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24: Capstone Project</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capstone project within RAG. It covers a substantial capstone project that consolidates the entire book into a portfolio-grade RAG deliverable,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Chapter 25: Certification Preparation and Review</a:t>
            </a:r>
          </a:p>
          <a:p>
            <a:r>
              <a:rPr sz="1500">
                <a:solidFill>
                  <a:srgbClr val="475569"/>
                </a:solidFill>
              </a:rPr>
              <a:t>RAG</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This chapter examines certification preparation and review within RAG. It covers a structured review and certification-style preparation covering the full breadth of RAG, derives a reference architecture, walks through a worked example and runnable code, surveys industry use cases, and distils best practices and pitfalls, closing with exercises and review questions.</a:t>
            </a:r>
          </a:p>
          <a:p>
            <a:pPr>
              <a:spcAft>
                <a:spcPts val="800"/>
              </a:spcAft>
            </a:pPr>
            <a:r>
              <a:rPr sz="1800">
                <a:solidFill>
                  <a:srgbClr val="0F172A"/>
                </a:solidFill>
              </a:rPr>
              <a:t>• Theory and Foundations</a:t>
            </a:r>
          </a:p>
          <a:p>
            <a:pPr>
              <a:spcAft>
                <a:spcPts val="800"/>
              </a:spcAft>
            </a:pPr>
            <a:r>
              <a:rPr sz="1800">
                <a:solidFill>
                  <a:srgbClr val="0F172A"/>
                </a:solidFill>
              </a:rPr>
              <a:t>• Architecture and Design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Governance &amp; Responsible AI</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Governance ensures RAG is developed and used responsibly, legally and in line with organisational values.</a:t>
            </a:r>
          </a:p>
          <a:p>
            <a:pPr>
              <a:spcAft>
                <a:spcPts val="800"/>
              </a:spcAft>
            </a:pPr>
            <a:r>
              <a:rPr sz="1800">
                <a:solidFill>
                  <a:srgbClr val="0F172A"/>
                </a:solidFill>
              </a:rPr>
              <a:t>• This book embeds governance as lifecycle gates - risk classification, documentation, approval and monitoring - rather than as a final checkpoint, aligning with frameworks such as the NIST AI RMF, ISO/IEC 42001 and the EU AI Act.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Security Perspective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Security for RAG extends traditional controls with ML-specific defences against prompt injection, data poisoning, model extraction and insecure output handling.</a:t>
            </a:r>
          </a:p>
          <a:p>
            <a:pPr>
              <a:spcAft>
                <a:spcPts val="800"/>
              </a:spcAft>
            </a:pPr>
            <a:r>
              <a:rPr sz="1800">
                <a:solidFill>
                  <a:srgbClr val="0F172A"/>
                </a:solidFill>
              </a:rPr>
              <a:t>• Defence in depth - input validation, constrained decoding, output validation, sandboxed tools and continuous monitoring - is applied consistently, mapped to the OWASP LLM Top 10 and MITRE ATLAS.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Enterprise: RAG in Practice</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**Context.** A enterprise organisation set out to apply RAG to grounded internal Q&amp;A over policies and wikis with citations.</a:t>
            </a:r>
          </a:p>
          <a:p>
            <a:pPr>
              <a:spcAft>
                <a:spcPts val="800"/>
              </a:spcAft>
            </a:pPr>
            <a:r>
              <a:rPr sz="1800">
                <a:solidFill>
                  <a:srgbClr val="0F172A"/>
                </a:solidFill>
              </a:rPr>
              <a:t>• **Approach.** The team began with a precise objective and an evaluation set, prototyped the simplest viable design, then hardened it with monitoring, security controls and cost budgets.</a:t>
            </a:r>
          </a:p>
          <a:p>
            <a:pPr>
              <a:spcAft>
                <a:spcPts val="800"/>
              </a:spcAft>
            </a:pPr>
            <a:r>
              <a:rPr sz="1800">
                <a:solidFill>
                  <a:srgbClr val="0F172A"/>
                </a:solidFill>
              </a:rPr>
              <a:t>• **Outcome.** Measured against the original metric, the system delivered durable value because the surrounding engineering - data quality, evaluation and operations - was treated as seriously as the model itself.</a:t>
            </a:r>
          </a:p>
          <a:p>
            <a:pPr>
              <a:spcAft>
                <a:spcPts val="800"/>
              </a:spcAft>
            </a:pPr>
            <a:r>
              <a:rPr sz="1800">
                <a:solidFill>
                  <a:srgbClr val="0F172A"/>
                </a:solidFill>
              </a:rPr>
              <a:t>• **Lessons.** Start with measurement, resist premature complexity, and design governance and observability in from day 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Key Takeaways</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Treat AI as a systems discipline: data, models and operations together.</a:t>
            </a:r>
          </a:p>
          <a:p>
            <a:pPr>
              <a:spcAft>
                <a:spcPts val="800"/>
              </a:spcAft>
            </a:pPr>
            <a:r>
              <a:rPr sz="1800">
                <a:solidFill>
                  <a:srgbClr val="0F172A"/>
                </a:solidFill>
              </a:rPr>
              <a:t>• Measure everything; gate releases on evaluation, not intuition.</a:t>
            </a:r>
          </a:p>
          <a:p>
            <a:pPr>
              <a:spcAft>
                <a:spcPts val="800"/>
              </a:spcAft>
            </a:pPr>
            <a:r>
              <a:rPr sz="1800">
                <a:solidFill>
                  <a:srgbClr val="0F172A"/>
                </a:solidFill>
              </a:rPr>
              <a:t>• Design security, governance and cost controls in from the start.</a:t>
            </a:r>
          </a:p>
          <a:p>
            <a:pPr>
              <a:spcAft>
                <a:spcPts val="800"/>
              </a:spcAft>
            </a:pPr>
            <a:r>
              <a:rPr sz="1800">
                <a:solidFill>
                  <a:srgbClr val="0F172A"/>
                </a:solidFill>
              </a:rPr>
              <a:t>• Prefer the simplest design that meets the requirement.</a:t>
            </a:r>
          </a:p>
          <a:p>
            <a:pPr>
              <a:spcAft>
                <a:spcPts val="800"/>
              </a:spcAft>
            </a:pPr>
            <a:r>
              <a:rPr sz="1800">
                <a:solidFill>
                  <a:srgbClr val="0F172A"/>
                </a:solidFill>
              </a:rPr>
              <a:t>• Operate continuously: monitor, learn and improve.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64592"/>
          </a:xfrm>
          <a:prstGeom prst="rect">
            <a:avLst/>
          </a:prstGeom>
          <a:noFill/>
        </p:spPr>
        <p:txBody>
          <a:bodyPr wrap="none">
            <a:spAutoFit/>
          </a:bodyPr>
          <a:lstStyle/>
          <a:p/>
        </p:txBody>
      </p:sp>
      <p:sp>
        <p:nvSpPr>
          <p:cNvPr id="3" name="TextBox 2"/>
          <p:cNvSpPr txBox="1"/>
          <p:nvPr/>
        </p:nvSpPr>
        <p:spPr>
          <a:xfrm>
            <a:off x="548640" y="365760"/>
            <a:ext cx="11064240" cy="914400"/>
          </a:xfrm>
          <a:prstGeom prst="rect">
            <a:avLst/>
          </a:prstGeom>
          <a:noFill/>
        </p:spPr>
        <p:txBody>
          <a:bodyPr wrap="square">
            <a:spAutoFit/>
          </a:bodyPr>
          <a:lstStyle/>
          <a:p>
            <a:r>
              <a:rPr sz="3000" b="1">
                <a:solidFill>
                  <a:srgbClr val="4338CA"/>
                </a:solidFill>
              </a:rPr>
              <a:t>Thank You</a:t>
            </a:r>
          </a:p>
        </p:txBody>
      </p:sp>
      <p:sp>
        <p:nvSpPr>
          <p:cNvPr id="4" name="TextBox 3"/>
          <p:cNvSpPr txBox="1"/>
          <p:nvPr/>
        </p:nvSpPr>
        <p:spPr>
          <a:xfrm>
            <a:off x="640080" y="1554480"/>
            <a:ext cx="10972800" cy="4754880"/>
          </a:xfrm>
          <a:prstGeom prst="rect">
            <a:avLst/>
          </a:prstGeom>
          <a:noFill/>
        </p:spPr>
        <p:txBody>
          <a:bodyPr wrap="square">
            <a:spAutoFit/>
          </a:bodyPr>
          <a:lstStyle/>
          <a:p>
            <a:pPr>
              <a:spcAft>
                <a:spcPts val="800"/>
              </a:spcAft>
            </a:pPr>
            <a:r>
              <a:rPr sz="1800">
                <a:solidFill>
                  <a:srgbClr val="0F172A"/>
                </a:solidFill>
              </a:rPr>
              <a:t>• RAG: Foundations</a:t>
            </a:r>
          </a:p>
          <a:p>
            <a:pPr>
              <a:spcAft>
                <a:spcPts val="800"/>
              </a:spcAft>
            </a:pPr>
            <a:r>
              <a:rPr sz="1800">
                <a:solidFill>
                  <a:srgbClr val="0F172A"/>
                </a:solidFill>
              </a:rPr>
              <a:t>• AI-University Press — Enterprise AI Knowledge Series</a:t>
            </a:r>
          </a:p>
          <a:p>
            <a:pPr>
              <a:spcAft>
                <a:spcPts val="800"/>
              </a:spcAft>
            </a:pPr>
            <a:r>
              <a:rPr sz="1800">
                <a:solidFill>
                  <a:srgbClr val="0F172A"/>
                </a:solidFill>
              </a:rPr>
              <a:t>• ISBN 978-0-40741-297-2  |  v1.0.0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