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 presentation for 'Generative AI: Foundations'. This deck summarises the book for leadership and stakeholders.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Generative AI refers to models that synthesise novel content—text, images, audio, code and structured data—by learning the distribution of training data and sampling from it. The enterprise value lies not in novelty but in productivity: drafting, summarisation, code generation, synthetic data and customer interaction. This book frames generative AI as a capability that must be productised: grounded in enterprise data, guarded against harmful output, evaluated continuously and operated under clear cost and latency budgets. This volume is written for newcomers building a rigorous base. It progresses from first principles to enterprise-grade design and operations, with every chapter combining theory, architecture, worked examples, runnable code, exercises and assessment. The treatment is deliberately practical: the emphasis throughout is on decisions that hold up in production, backed by measurement rather than intuition.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what the audience will be able to 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Generative AI sits within a rapidly maturing AI landscape in which organisations are moving from experimentation to dependable, governed deployment. The competitive advantage no longer comes from access to models alone but from the engineering and operational discipline that turns capability into reliable, compliant business outcomes. This book situates the subject in that context so readers can connect technical choices to organisational value.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a business perspective, Generative AI initiatives must be justified by clear value: revenue growth, cost reduction, risk mitigation or improved experience. Leaders should insist on measurable objectives, realistic unit economics that account for inference cost, and a roadmap that sequences capability against risk. The most common failure is not technical but strategic: building capability that is never connected to a decision or workflow that matters.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technical perspective treats Generative AI as a systems discipline. A production generative-AI platform places a model gateway in front of one or more foundation models, with orchestration handling prompt assembly, retrieval, tool calls and guardrails. A semantic cache reduces cost and latency, an evaluation service scores responses offline and online, and an observability layer captures prompts, completions, tokens, cost and quality signals for every request. Throughout, the book favours clear interfaces, reproducibility and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Architecturally, a Generative AI platform is layered into data, model, application and operations planes, each with explicit contracts so they can evolve independently. A model gateway centralises access and control; observability and security are cross-cutting and designed in from the start. Reference architectures and blueprints appear in every chapter and are consolidated in the capstone.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generative modelling foundations within Generative AI. It covers likelihood-based versus implicit models; autoregressive, diffusion and variational approaches and the trade-offs between fidelity and diversity,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large language models as generators within Generative AI. It covers next-token prediction, sampling strategies (temperature, top-k, top-p) and the emergence of instruction following,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diffusion models for images and audio within Generative AI. It covers forward/reverse diffusion, denoising objectives, latent diffusion and classifier-free guidance,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multimodal generation within Generative AI. It covers joint text–image–audio models, cross-attention conditioning and unified tokenisation strategies,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grounding with enterprise data within Generative AI. It covers retrieval augmentation, tool use and structured outputs to keep generations factual and policy-compliant,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controllability and structured output within Generative AI. It covers constrained decoding, JSON/schema enforcement and function calling for reliable downstream integration,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evaluation of generative systems within Generative AI. It covers reference-based and reference-free metrics, LLM-as-judge, human preference evaluation and red-teaming,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safety, guardrails and content moderation within Generative AI. It covers input/output filtering, jailbreak resistance and layered defence in depth,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cost, latency and throughput engineering within Generative AI. It covers token economics, caching, batching, distillation and routing across model tiers,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synthetic data generation within Generative AI. It covers augmenting scarce datasets, privacy-preserving generation and avoiding model collapse from recursive training,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enterprise use-case patterns within Generative AI. It covers assistants, copilots, summarisers and autonomous workflows mapped to value,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productionising generative applications within Generative AI. It covers prompt management, versioning, observability and continuous evaluation in CI,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governance and intellectual property within Generative AI. It covers provenance, watermarking, licensing and the legal landscape of generated content,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the genai reference architecture within Generative AI. It covers gateways, orchestration, retrieval, guardrails and evaluation as a cohesive platform,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putting it together: a reference implementation within Generative AI. It covers an end-to-end reference implementation that integrates the components of a Generative AI system into a cohesive, working whole,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hands-on lab: building an end-to-end generative ai system within Generative AI. It covers a guided, build-along laboratory that constructs a functioning Generative AI system from first principles,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case study: legal at scale within Generative AI. It covers a detailed case study of deploying Generative AI in a demanding legal environment, including the decisions, trade-offs and outcomes,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operating in production within Generative AI. It covers the operational discipline required to run a Generative AI system reliably, including monitoring, incident response and continuous improvement,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evaluation and quality assurance within Generative AI. It covers a rigorous approach to measuring and assuring the quality of a Generative AI system before and after release,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security, privacy and governance within Generative AI. It covers the security, privacy and governance controls that make a Generative AI system trustworthy and compliant,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cost, performance and scaling within Generative AI. It covers techniques for controlling cost and latency while scaling a Generative AI system to production traffic,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integration and interoperability within Generative AI. It covers patterns for integrating a Generative AI system with surrounding enterprise systems and data,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trends and research directions within Generative AI. It covers emerging trends, open problems and research directions shaping the future of Generative AI,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capstone project within Generative AI. It covers a substantial capstone project that consolidates the entire book into a portfolio-grade Generative AI deliverable,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certification preparation and review within Generative AI. It covers a structured review and certification-style preparation covering the full breadth of Generative AI,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Governance ensures Generative AI is developed and used responsibly, legally and in line with organisational values. This book embeds governance as lifecycle gates - risk classification, documentation, approval and monitoring - rather than as a final checkpoint, aligning with frameworks such as the NIST AI RMF, ISO/IEC 42001 and the EU AI Act.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for Generative AI extends traditional controls with ML-specific defences against prompt injection, data poisoning, model extraction and insecure output handling. Defence in depth - input validation, constrained decoding, output validation, sandboxed tools and continuous monitoring - is applied consistently, mapped to the OWASP LLM Top 10 and MITRE ATLAS.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A legal organisation set out to apply Generative AI to contract drafting and clause extraction with citation back to source. **Approach.** The team began with a precise objective and an evaluation set, prototyped the simplest viable design, then hardened it with monitoring, security controls and cost budgets. **Outcome.** Measured against the original metric, the system delivered durable value because the surrounding engineering - data quality, evaluation and operations - was treated as seriously as the model itself. **Lessons.** Start with measurement, resist premature complexity, and design governance and observability in from day one.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durable principles from the book.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and next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94560"/>
            <a:ext cx="10698480" cy="2743200"/>
          </a:xfrm>
          <a:prstGeom prst="rect">
            <a:avLst/>
          </a:prstGeom>
          <a:noFill/>
        </p:spPr>
        <p:txBody>
          <a:bodyPr wrap="square">
            <a:spAutoFit/>
          </a:bodyPr>
          <a:lstStyle/>
          <a:p>
            <a:r>
              <a:rPr sz="4000" b="1">
                <a:solidFill>
                  <a:srgbClr val="4338CA"/>
                </a:solidFill>
              </a:rPr>
              <a:t>Generative AI: Foundations</a:t>
            </a:r>
          </a:p>
          <a:p>
            <a:r>
              <a:rPr sz="1800">
                <a:solidFill>
                  <a:srgbClr val="475569"/>
                </a:solidFill>
              </a:rPr>
              <a:t>Designing, deploying and governing systems that create content — a foundational guide for newcomers building a rigorous base.</a:t>
            </a:r>
          </a:p>
          <a:p>
            <a:r>
              <a:rPr sz="1300">
                <a:solidFill>
                  <a:srgbClr val="475569"/>
                </a:solidFill>
              </a:rPr>
              <a:t>AI-University Press   |   Carlos Mendoza, Dr. Elena Petrova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Executive Summary</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Generative AI refers to models that synthesise novel content—text, images, audio, code and structured data—by learning the distribution of training data and sampling from it.</a:t>
            </a:r>
          </a:p>
          <a:p>
            <a:pPr>
              <a:spcAft>
                <a:spcPts val="800"/>
              </a:spcAft>
            </a:pPr>
            <a:r>
              <a:rPr sz="1800">
                <a:solidFill>
                  <a:srgbClr val="0F172A"/>
                </a:solidFill>
              </a:rPr>
              <a:t>• The enterprise value lies not in novelty but in productivity: drafting, summarisation, code generation, synthetic data and customer interaction.</a:t>
            </a:r>
          </a:p>
          <a:p>
            <a:pPr>
              <a:spcAft>
                <a:spcPts val="800"/>
              </a:spcAft>
            </a:pPr>
            <a:r>
              <a:rPr sz="1800">
                <a:solidFill>
                  <a:srgbClr val="0F172A"/>
                </a:solidFill>
              </a:rPr>
              <a:t>• This book frames generative AI as a capability that must be productised: grounded in enterprise data, guarded against harmful output, evaluated continuously and operated under clear cost and latency budgets.</a:t>
            </a:r>
          </a:p>
          <a:p>
            <a:pPr>
              <a:spcAft>
                <a:spcPts val="800"/>
              </a:spcAft>
            </a:pPr>
            <a:r>
              <a:rPr sz="1800">
                <a:solidFill>
                  <a:srgbClr val="0F172A"/>
                </a:solidFill>
              </a:rPr>
              <a:t>• This volume is written for newcomers building a rigorous base.</a:t>
            </a:r>
          </a:p>
          <a:p>
            <a:pPr>
              <a:spcAft>
                <a:spcPts val="800"/>
              </a:spcAft>
            </a:pPr>
            <a:r>
              <a:rPr sz="1800">
                <a:solidFill>
                  <a:srgbClr val="0F172A"/>
                </a:solidFill>
              </a:rPr>
              <a:t>• It progresses from first principles to enterprise-grade design and operations, with every chapter combining theory, architecture, worked examples, runnable code, exercises and assessment.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Learning Objectives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Explain the foundational principles of Generative AI and articulate where it creates value.</a:t>
            </a:r>
          </a:p>
          <a:p>
            <a:pPr>
              <a:spcAft>
                <a:spcPts val="800"/>
              </a:spcAft>
            </a:pPr>
            <a:r>
              <a:rPr sz="1800">
                <a:solidFill>
                  <a:srgbClr val="0F172A"/>
                </a:solidFill>
              </a:rPr>
              <a:t>• Design a reference architecture for a Generative AI system that meets enterprise quality attributes.</a:t>
            </a:r>
          </a:p>
          <a:p>
            <a:pPr>
              <a:spcAft>
                <a:spcPts val="800"/>
              </a:spcAft>
            </a:pPr>
            <a:r>
              <a:rPr sz="1800">
                <a:solidFill>
                  <a:srgbClr val="0F172A"/>
                </a:solidFill>
              </a:rPr>
              <a:t>• Implement core Generative AI components following production engineering standards.</a:t>
            </a:r>
          </a:p>
          <a:p>
            <a:pPr>
              <a:spcAft>
                <a:spcPts val="800"/>
              </a:spcAft>
            </a:pPr>
            <a:r>
              <a:rPr sz="1800">
                <a:solidFill>
                  <a:srgbClr val="0F172A"/>
                </a:solidFill>
              </a:rPr>
              <a:t>• Evaluate Generative AI systems rigorously and gate releases on measurable quality.</a:t>
            </a:r>
          </a:p>
          <a:p>
            <a:pPr>
              <a:spcAft>
                <a:spcPts val="800"/>
              </a:spcAft>
            </a:pPr>
            <a:r>
              <a:rPr sz="1800">
                <a:solidFill>
                  <a:srgbClr val="0F172A"/>
                </a:solidFill>
              </a:rPr>
              <a:t>• Apply security, privacy and governance controls appropriate to Generative AI.</a:t>
            </a:r>
          </a:p>
          <a:p>
            <a:pPr>
              <a:spcAft>
                <a:spcPts val="800"/>
              </a:spcAft>
            </a:pPr>
            <a:r>
              <a:rPr sz="1800">
                <a:solidFill>
                  <a:srgbClr val="0F172A"/>
                </a:solidFill>
              </a:rPr>
              <a:t>• Operate Generative AI systems reliably, controlling cost, latency and drift.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Industry Context</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Generative AI sits within a rapidly maturing AI landscape in which organisations are moving from experimentation to dependable, governed deployment.</a:t>
            </a:r>
          </a:p>
          <a:p>
            <a:pPr>
              <a:spcAft>
                <a:spcPts val="800"/>
              </a:spcAft>
            </a:pPr>
            <a:r>
              <a:rPr sz="1800">
                <a:solidFill>
                  <a:srgbClr val="0F172A"/>
                </a:solidFill>
              </a:rPr>
              <a:t>• The competitive advantage no longer comes from access to models alone but from the engineering and operational discipline that turns capability into reliable, compliant business outcomes.</a:t>
            </a:r>
          </a:p>
          <a:p>
            <a:pPr>
              <a:spcAft>
                <a:spcPts val="800"/>
              </a:spcAft>
            </a:pPr>
            <a:r>
              <a:rPr sz="1800">
                <a:solidFill>
                  <a:srgbClr val="0F172A"/>
                </a:solidFill>
              </a:rPr>
              <a:t>• This book situates the subject in that context so readers can connect technical choices to organisational value.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Business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From a business perspective, Generative AI initiatives must be justified by clear value: revenue growth, cost reduction, risk mitigation or improved experience.</a:t>
            </a:r>
          </a:p>
          <a:p>
            <a:pPr>
              <a:spcAft>
                <a:spcPts val="800"/>
              </a:spcAft>
            </a:pPr>
            <a:r>
              <a:rPr sz="1800">
                <a:solidFill>
                  <a:srgbClr val="0F172A"/>
                </a:solidFill>
              </a:rPr>
              <a:t>• Leaders should insist on measurable objectives, realistic unit economics that account for inference cost, and a roadmap that sequences capability against risk.</a:t>
            </a:r>
          </a:p>
          <a:p>
            <a:pPr>
              <a:spcAft>
                <a:spcPts val="800"/>
              </a:spcAft>
            </a:pPr>
            <a:r>
              <a:rPr sz="1800">
                <a:solidFill>
                  <a:srgbClr val="0F172A"/>
                </a:solidFill>
              </a:rPr>
              <a:t>• The most common failure is not technical but strategic: building capability that is never connected to a decision or workflow that matters.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Technology Overview</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The technical perspective treats Generative AI as a systems discipline.</a:t>
            </a:r>
          </a:p>
          <a:p>
            <a:pPr>
              <a:spcAft>
                <a:spcPts val="800"/>
              </a:spcAft>
            </a:pPr>
            <a:r>
              <a:rPr sz="1800">
                <a:solidFill>
                  <a:srgbClr val="0F172A"/>
                </a:solidFill>
              </a:rPr>
              <a:t>• A production generative-AI platform places a model gateway in front of one or more foundation models, with orchestration handling prompt assembly, retrieval, tool calls and guardrails.</a:t>
            </a:r>
          </a:p>
          <a:p>
            <a:pPr>
              <a:spcAft>
                <a:spcPts val="800"/>
              </a:spcAft>
            </a:pPr>
            <a:r>
              <a:rPr sz="1800">
                <a:solidFill>
                  <a:srgbClr val="0F172A"/>
                </a:solidFill>
              </a:rPr>
              <a:t>• A semantic cache reduces cost and latency, an evaluation service scores responses offline and online, and an observability layer captures prompts, completions, tokens, cost and quality signals for every request.</a:t>
            </a:r>
          </a:p>
          <a:p>
            <a:pPr>
              <a:spcAft>
                <a:spcPts val="800"/>
              </a:spcAft>
            </a:pPr>
            <a:r>
              <a:rPr sz="1800">
                <a:solidFill>
                  <a:srgbClr val="0F172A"/>
                </a:solidFill>
              </a:rPr>
              <a:t>• Throughout, the book favours clear interfaces, reproducibility and measurement.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Architecture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Architecturally, a Generative AI platform is layered into data, model, application and operations planes, each with explicit contracts so they can evolve independently.</a:t>
            </a:r>
          </a:p>
          <a:p>
            <a:pPr>
              <a:spcAft>
                <a:spcPts val="800"/>
              </a:spcAft>
            </a:pPr>
            <a:r>
              <a:rPr sz="1800">
                <a:solidFill>
                  <a:srgbClr val="0F172A"/>
                </a:solidFill>
              </a:rPr>
              <a:t>• A model gateway centralises access and control; observability and security are cross-cutting and designed in from the start.</a:t>
            </a:r>
          </a:p>
          <a:p>
            <a:pPr>
              <a:spcAft>
                <a:spcPts val="800"/>
              </a:spcAft>
            </a:pPr>
            <a:r>
              <a:rPr sz="1800">
                <a:solidFill>
                  <a:srgbClr val="0F172A"/>
                </a:solidFill>
              </a:rPr>
              <a:t>• Reference architectures and blueprints appear in every chapter and are consolidated in the capstone.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 Generative Modelling Foundations</a:t>
            </a:r>
          </a:p>
          <a:p>
            <a:r>
              <a:rPr sz="1500">
                <a:solidFill>
                  <a:srgbClr val="475569"/>
                </a:solidFill>
              </a:rPr>
              <a:t>Generative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generative modelling foundations within Generative AI. It covers likelihood-based versus implicit models; autoregressive, diffusion and variational approaches and the trade-offs between fidelity and diversity,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 Large Language Models as Generators</a:t>
            </a:r>
          </a:p>
          <a:p>
            <a:r>
              <a:rPr sz="1500">
                <a:solidFill>
                  <a:srgbClr val="475569"/>
                </a:solidFill>
              </a:rPr>
              <a:t>Generative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large language models as generators within Generative AI. It covers next-token prediction, sampling strategies (temperature, top-k, top-p) and the emergence of instruction following,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3: Diffusion Models for Images and Audio</a:t>
            </a:r>
          </a:p>
          <a:p>
            <a:r>
              <a:rPr sz="1500">
                <a:solidFill>
                  <a:srgbClr val="475569"/>
                </a:solidFill>
              </a:rPr>
              <a:t>Generative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diffusion models for images and audio within Generative AI. It covers forward/reverse diffusion, denoising objectives, latent diffusion and classifier-free guidance,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4: Multimodal Generation</a:t>
            </a:r>
          </a:p>
          <a:p>
            <a:r>
              <a:rPr sz="1500">
                <a:solidFill>
                  <a:srgbClr val="475569"/>
                </a:solidFill>
              </a:rPr>
              <a:t>Generative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multimodal generation within Generative AI. It covers joint text–image–audio models, cross-attention conditioning and unified tokenisation strategies,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5: Grounding with Enterprise Data</a:t>
            </a:r>
          </a:p>
          <a:p>
            <a:r>
              <a:rPr sz="1500">
                <a:solidFill>
                  <a:srgbClr val="475569"/>
                </a:solidFill>
              </a:rPr>
              <a:t>Generative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grounding with enterprise data within Generative AI. It covers retrieval augmentation, tool use and structured outputs to keep generations factual and policy-compliant,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6: Controllability and Structured Output</a:t>
            </a:r>
          </a:p>
          <a:p>
            <a:r>
              <a:rPr sz="1500">
                <a:solidFill>
                  <a:srgbClr val="475569"/>
                </a:solidFill>
              </a:rPr>
              <a:t>Generative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controllability and structured output within Generative AI. It covers constrained decoding, JSON/schema enforcement and function calling for reliable downstream integration,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7: Evaluation of Generative Systems</a:t>
            </a:r>
          </a:p>
          <a:p>
            <a:r>
              <a:rPr sz="1500">
                <a:solidFill>
                  <a:srgbClr val="475569"/>
                </a:solidFill>
              </a:rPr>
              <a:t>Generative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evaluation of generative systems within Generative AI. It covers reference-based and reference-free metrics, LLM-as-judge, human preference evaluation and red-teaming,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8: Safety, Guardrails and Content Moderation</a:t>
            </a:r>
          </a:p>
          <a:p>
            <a:r>
              <a:rPr sz="1500">
                <a:solidFill>
                  <a:srgbClr val="475569"/>
                </a:solidFill>
              </a:rPr>
              <a:t>Generative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safety, guardrails and content moderation within Generative AI. It covers input/output filtering, jailbreak resistance and layered defence in depth,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9: Cost, Latency and Throughput Engineering</a:t>
            </a:r>
          </a:p>
          <a:p>
            <a:r>
              <a:rPr sz="1500">
                <a:solidFill>
                  <a:srgbClr val="475569"/>
                </a:solidFill>
              </a:rPr>
              <a:t>Generative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cost, latency and throughput engineering within Generative AI. It covers token economics, caching, batching, distillation and routing across model tiers,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10: Synthetic Data Generation</a:t>
            </a:r>
          </a:p>
          <a:p>
            <a:r>
              <a:rPr sz="1500">
                <a:solidFill>
                  <a:srgbClr val="475569"/>
                </a:solidFill>
              </a:rPr>
              <a:t>Generative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synthetic data generation within Generative AI. It covers augmenting scarce datasets, privacy-preserving generation and avoiding model collapse from recursive training,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11: Enterprise Use-Case Patterns</a:t>
            </a:r>
          </a:p>
          <a:p>
            <a:r>
              <a:rPr sz="1500">
                <a:solidFill>
                  <a:srgbClr val="475569"/>
                </a:solidFill>
              </a:rPr>
              <a:t>Generative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enterprise use-case patterns within Generative AI. It covers assistants, copilots, summarisers and autonomous workflows mapped to value,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12: Productionising Generative Applications</a:t>
            </a:r>
          </a:p>
          <a:p>
            <a:r>
              <a:rPr sz="1500">
                <a:solidFill>
                  <a:srgbClr val="475569"/>
                </a:solidFill>
              </a:rPr>
              <a:t>Generative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productionising generative applications within Generative AI. It covers prompt management, versioning, observability and continuous evaluation in CI,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13: Governance and Intellectual Property</a:t>
            </a:r>
          </a:p>
          <a:p>
            <a:r>
              <a:rPr sz="1500">
                <a:solidFill>
                  <a:srgbClr val="475569"/>
                </a:solidFill>
              </a:rPr>
              <a:t>Generative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governance and intellectual property within Generative AI. It covers provenance, watermarking, licensing and the legal landscape of generated content,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14: The GenAI Reference Architecture</a:t>
            </a:r>
          </a:p>
          <a:p>
            <a:r>
              <a:rPr sz="1500">
                <a:solidFill>
                  <a:srgbClr val="475569"/>
                </a:solidFill>
              </a:rPr>
              <a:t>Generative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the genai reference architecture within Generative AI. It covers gateways, orchestration, retrieval, guardrails and evaluation as a cohesive platform,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15: Putting It Together: A Reference Implementation</a:t>
            </a:r>
          </a:p>
          <a:p>
            <a:r>
              <a:rPr sz="1500">
                <a:solidFill>
                  <a:srgbClr val="475569"/>
                </a:solidFill>
              </a:rPr>
              <a:t>Generative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putting it together: a reference implementation within Generative AI. It covers an end-to-end reference implementation that integrates the components of a Generative AI system into a cohesive, working whole,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16: Hands-On Lab: Building an End-to-End Generative AI System</a:t>
            </a:r>
          </a:p>
          <a:p>
            <a:r>
              <a:rPr sz="1500">
                <a:solidFill>
                  <a:srgbClr val="475569"/>
                </a:solidFill>
              </a:rPr>
              <a:t>Generative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hands-on lab: building an end-to-end generative ai system within Generative AI. It covers a guided, build-along laboratory that constructs a functioning Generative AI system from first principles,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17: Case Study: Legal at Scale</a:t>
            </a:r>
          </a:p>
          <a:p>
            <a:r>
              <a:rPr sz="1500">
                <a:solidFill>
                  <a:srgbClr val="475569"/>
                </a:solidFill>
              </a:rPr>
              <a:t>Generative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case study: legal at scale within Generative AI. It covers a detailed case study of deploying Generative AI in a demanding legal environment, including the decisions, trade-offs and outcomes,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18: Operating in Production</a:t>
            </a:r>
          </a:p>
          <a:p>
            <a:r>
              <a:rPr sz="1500">
                <a:solidFill>
                  <a:srgbClr val="475569"/>
                </a:solidFill>
              </a:rPr>
              <a:t>Generative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operating in production within Generative AI. It covers the operational discipline required to run a Generative AI system reliably, including monitoring, incident response and continuous improvement,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19: Evaluation and Quality Assurance</a:t>
            </a:r>
          </a:p>
          <a:p>
            <a:r>
              <a:rPr sz="1500">
                <a:solidFill>
                  <a:srgbClr val="475569"/>
                </a:solidFill>
              </a:rPr>
              <a:t>Generative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evaluation and quality assurance within Generative AI. It covers a rigorous approach to measuring and assuring the quality of a Generative AI system before and after release,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20: Security, Privacy and Governance</a:t>
            </a:r>
          </a:p>
          <a:p>
            <a:r>
              <a:rPr sz="1500">
                <a:solidFill>
                  <a:srgbClr val="475569"/>
                </a:solidFill>
              </a:rPr>
              <a:t>Generative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security, privacy and governance within Generative AI. It covers the security, privacy and governance controls that make a Generative AI system trustworthy and compliant,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21: Cost, Performance and Scaling</a:t>
            </a:r>
          </a:p>
          <a:p>
            <a:r>
              <a:rPr sz="1500">
                <a:solidFill>
                  <a:srgbClr val="475569"/>
                </a:solidFill>
              </a:rPr>
              <a:t>Generative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cost, performance and scaling within Generative AI. It covers techniques for controlling cost and latency while scaling a Generative AI system to production traffic,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22: Integration and Interoperability</a:t>
            </a:r>
          </a:p>
          <a:p>
            <a:r>
              <a:rPr sz="1500">
                <a:solidFill>
                  <a:srgbClr val="475569"/>
                </a:solidFill>
              </a:rPr>
              <a:t>Generative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integration and interoperability within Generative AI. It covers patterns for integrating a Generative AI system with surrounding enterprise systems and data,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23: Trends and Research Directions</a:t>
            </a:r>
          </a:p>
          <a:p>
            <a:r>
              <a:rPr sz="1500">
                <a:solidFill>
                  <a:srgbClr val="475569"/>
                </a:solidFill>
              </a:rPr>
              <a:t>Generative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trends and research directions within Generative AI. It covers emerging trends, open problems and research directions shaping the future of Generative AI,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24: Capstone Project</a:t>
            </a:r>
          </a:p>
          <a:p>
            <a:r>
              <a:rPr sz="1500">
                <a:solidFill>
                  <a:srgbClr val="475569"/>
                </a:solidFill>
              </a:rPr>
              <a:t>Generative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capstone project within Generative AI. It covers a substantial capstone project that consolidates the entire book into a portfolio-grade Generative AI deliverable,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25: Certification Preparation and Review</a:t>
            </a:r>
          </a:p>
          <a:p>
            <a:r>
              <a:rPr sz="1500">
                <a:solidFill>
                  <a:srgbClr val="475569"/>
                </a:solidFill>
              </a:rPr>
              <a:t>Generative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certification preparation and review within Generative AI. It covers a structured review and certification-style preparation covering the full breadth of Generative AI,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Governance &amp; Responsible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Governance ensures Generative AI is developed and used responsibly, legally and in line with organisational values.</a:t>
            </a:r>
          </a:p>
          <a:p>
            <a:pPr>
              <a:spcAft>
                <a:spcPts val="800"/>
              </a:spcAft>
            </a:pPr>
            <a:r>
              <a:rPr sz="1800">
                <a:solidFill>
                  <a:srgbClr val="0F172A"/>
                </a:solidFill>
              </a:rPr>
              <a:t>• This book embeds governance as lifecycle gates - risk classification, documentation, approval and monitoring - rather than as a final checkpoint, aligning with frameworks such as the NIST AI RMF, ISO/IEC 42001 and the EU AI Act.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Security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Security for Generative AI extends traditional controls with ML-specific defences against prompt injection, data poisoning, model extraction and insecure output handling.</a:t>
            </a:r>
          </a:p>
          <a:p>
            <a:pPr>
              <a:spcAft>
                <a:spcPts val="800"/>
              </a:spcAft>
            </a:pPr>
            <a:r>
              <a:rPr sz="1800">
                <a:solidFill>
                  <a:srgbClr val="0F172A"/>
                </a:solidFill>
              </a:rPr>
              <a:t>• Defence in depth - input validation, constrained decoding, output validation, sandboxed tools and continuous monitoring - is applied consistently, mapped to the OWASP LLM Top 10 and MITRE ATLAS.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Legal: Generative AI in Practice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**Context.** A legal organisation set out to apply Generative AI to contract drafting and clause extraction with citation back to source.</a:t>
            </a:r>
          </a:p>
          <a:p>
            <a:pPr>
              <a:spcAft>
                <a:spcPts val="800"/>
              </a:spcAft>
            </a:pPr>
            <a:r>
              <a:rPr sz="1800">
                <a:solidFill>
                  <a:srgbClr val="0F172A"/>
                </a:solidFill>
              </a:rPr>
              <a:t>• **Approach.** The team began with a precise objective and an evaluation set, prototyped the simplest viable design, then hardened it with monitoring, security controls and cost budgets.</a:t>
            </a:r>
          </a:p>
          <a:p>
            <a:pPr>
              <a:spcAft>
                <a:spcPts val="800"/>
              </a:spcAft>
            </a:pPr>
            <a:r>
              <a:rPr sz="1800">
                <a:solidFill>
                  <a:srgbClr val="0F172A"/>
                </a:solidFill>
              </a:rPr>
              <a:t>• **Outcome.** Measured against the original metric, the system delivered durable value because the surrounding engineering - data quality, evaluation and operations - was treated as seriously as the model itself.</a:t>
            </a:r>
          </a:p>
          <a:p>
            <a:pPr>
              <a:spcAft>
                <a:spcPts val="800"/>
              </a:spcAft>
            </a:pPr>
            <a:r>
              <a:rPr sz="1800">
                <a:solidFill>
                  <a:srgbClr val="0F172A"/>
                </a:solidFill>
              </a:rPr>
              <a:t>• **Lessons.** Start with measurement, resist premature complexity, and design governance and observability in from day one.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Key Takeaways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Treat AI as a systems discipline: data, models and operations together.</a:t>
            </a:r>
          </a:p>
          <a:p>
            <a:pPr>
              <a:spcAft>
                <a:spcPts val="800"/>
              </a:spcAft>
            </a:pPr>
            <a:r>
              <a:rPr sz="1800">
                <a:solidFill>
                  <a:srgbClr val="0F172A"/>
                </a:solidFill>
              </a:rPr>
              <a:t>• Measure everything; gate releases on evaluation, not intuition.</a:t>
            </a:r>
          </a:p>
          <a:p>
            <a:pPr>
              <a:spcAft>
                <a:spcPts val="800"/>
              </a:spcAft>
            </a:pPr>
            <a:r>
              <a:rPr sz="1800">
                <a:solidFill>
                  <a:srgbClr val="0F172A"/>
                </a:solidFill>
              </a:rPr>
              <a:t>• Design security, governance and cost controls in from the start.</a:t>
            </a:r>
          </a:p>
          <a:p>
            <a:pPr>
              <a:spcAft>
                <a:spcPts val="800"/>
              </a:spcAft>
            </a:pPr>
            <a:r>
              <a:rPr sz="1800">
                <a:solidFill>
                  <a:srgbClr val="0F172A"/>
                </a:solidFill>
              </a:rPr>
              <a:t>• Prefer the simplest design that meets the requirement.</a:t>
            </a:r>
          </a:p>
          <a:p>
            <a:pPr>
              <a:spcAft>
                <a:spcPts val="800"/>
              </a:spcAft>
            </a:pPr>
            <a:r>
              <a:rPr sz="1800">
                <a:solidFill>
                  <a:srgbClr val="0F172A"/>
                </a:solidFill>
              </a:rPr>
              <a:t>• Operate continuously: monitor, learn and improve.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Thank You</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Generative AI: Foundations</a:t>
            </a:r>
          </a:p>
          <a:p>
            <a:pPr>
              <a:spcAft>
                <a:spcPts val="800"/>
              </a:spcAft>
            </a:pPr>
            <a:r>
              <a:rPr sz="1800">
                <a:solidFill>
                  <a:srgbClr val="0F172A"/>
                </a:solidFill>
              </a:rPr>
              <a:t>• AI-University Press — Enterprise AI Knowledge Series</a:t>
            </a:r>
          </a:p>
          <a:p>
            <a:pPr>
              <a:spcAft>
                <a:spcPts val="800"/>
              </a:spcAft>
            </a:pPr>
            <a:r>
              <a:rPr sz="1800">
                <a:solidFill>
                  <a:srgbClr val="0F172A"/>
                </a:solidFill>
              </a:rPr>
              <a:t>• ISBN 978-6-59384-156-5  |  v1.0.0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