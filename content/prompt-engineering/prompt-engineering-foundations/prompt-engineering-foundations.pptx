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presentation for 'Prompt Engineering: Foundations'. This deck summarises the book for leadership and stakeholders.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engineering is the discipline of designing inputs, context and decoding settings that steer foundation models toward reliable, useful behaviour. It spans instruction design, in-context learning, structured output, tool use and evaluation. In the enterprise, prompts are software: they are specified, versioned, tested and monitored. This book elevates prompting from folklore to an engineering practice with measurable quality, regression testing and clear separation between prompt logic, retrieved context and model configuration. This volume is written for newcomers building a rigorous base. It progresses from first principles to enterprise-grade design and operations, with every chapter combining theory, architecture, worked examples, runnable code, exercises and assessment. The treatment is deliberately practical: the emphasis throughout is on decisions that hold up in production, backed by measurement rather than intuition.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what the audience will be able to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Engineering sits within a rapidly maturing AI landscape in which organisations are moving from experimentation to dependable, governed deployment. The competitive advantage no longer comes from access to models alone but from the engineering and operational discipline that turns capability into reliable, compliant business outcomes. This book situates the subject in that context so readers can connect technical choices to organisational 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business perspective, Prompt Engineering initiatives must be justified by clear value: revenue growth, cost reduction, risk mitigation or improved experience. Leaders should insist on measurable objectives, realistic unit economics that account for inference cost, and a roadmap that sequences capability against risk. The most common failure is not technical but strategic: building capability that is never connected to a decision or workflow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perspective treats Prompt Engineering as a systems discipline. Production prompting introduces a prompt management service that stores versioned templates, an assembly layer that merges instructions with retrieved context under a token budget, and an evaluation harness that scores candidate prompts against golden datasets before promotion. Telemetry links every completion back to the exact prompt version that produced it. Throughout, the book favours clear interfaces, reproducibility and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a Prompt Engineering platform is layered into data, model, application and operations planes, each with explicit contracts so they can evolve independently. A model gateway centralises access and control; observability and security are cross-cutting and designed in from the start. Reference architectures and blueprints appear in every chapter and are consolidated in the capstone.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anatomy of a prompt within Prompt Engineering. It covers system, developer and user roles; instructions, context, examples and output specification as distinct, composable parts,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zero-, one- and few-shot prompting within Prompt Engineering. It covers how in-context examples shape behaviour and when demonstrations beat instructions,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chain-of-thought and reasoning prompts within Prompt Engineering. It covers eliciting intermediate reasoning, self-consistency sampling and the cost/quality trade-offs of deliberate reasoning,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structured output and schema enforcement within Prompt Engineering. It covers jSON mode, function/tool calling and grammar-constrained decoding for reliable integration,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retrieval-augmented prompting within Prompt Engineering. It covers injecting grounded context, citation discipline and context-window budgeting,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tool use and function calling within Prompt Engineering. It covers letting models invoke functions, search and code execution within a controlled loop,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prompt templates and composition within Prompt Engineering. It covers parameterised templates, partials and guardrail wrappers for reuse at scale,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decoding parameters and sampling within Prompt Engineering. It covers temperature, top-p, penalties and stop sequences as levers on determinism,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prompt evaluation and regression testing within Prompt Engineering. It covers golden datasets, LLM-as-judge, rubric scoring and CI gates for prompt changes,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defending against prompt injection within Prompt Engineering. It covers untrusted-content isolation, instruction hierarchy and output validation,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multi-step and agentic prompting within Prompt Engineering. It covers planner/executor patterns, reflection and decomposition of complex tasks,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prompt management and versioning within Prompt Engineering. It covers registries, A/B testing and rollback for production prompts,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cost-aware prompt design within Prompt Engineering. It covers compression, context pruning and caching to control token spend,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patterns, anti-patterns and a style guide within Prompt Engineering. It covers a reusable library of prompt patterns and the failure modes to avoid,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putting it together: a reference implementation within Prompt Engineering. It covers an end-to-end reference implementation that integrates the components of a Prompt Engineering system into a cohesive, working whole,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hands-on lab: building an end-to-end prompt engineering system within Prompt Engineering. It covers a guided, build-along laboratory that constructs a functioning Prompt Engineering system from first principles,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case study: support at scale within Prompt Engineering. It covers a detailed case study of deploying Prompt Engineering in a demanding support environment, including the decisions, trade-offs and outcomes,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operating in production within Prompt Engineering. It covers the operational discipline required to run a Prompt Engineering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evaluation and quality assurance within Prompt Engineering. It covers a rigorous approach to measuring and assuring the quality of a Prompt Engineering system before and after release,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security, privacy and governance within Prompt Engineering. It covers the security, privacy and governance controls that make a Prompt Engineering system trustworthy and compliant,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cost, performance and scaling within Prompt Engineering. It covers techniques for controlling cost and latency while scaling a Prompt Engineering system to production traffic,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integration and interoperability within Prompt Engineering. It covers patterns for integrating a Prompt Engineering system with surrounding enterprise systems and data,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trends and research directions within Prompt Engineering. It covers emerging trends, open problems and research directions shaping the future of Prompt Engineering,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capstone project within Prompt Engineering. It covers a substantial capstone project that consolidates the entire book into a portfolio-grade Prompt Engineering deliverable,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examines certification preparation and review within Prompt Engineering. It covers a structured review and certification-style preparation covering the full breadth of Prompt Engineering, derives a reference architecture, walks through a worked example and runnable code, surveys industry use cases, and distils best practices and pitfalls, closing with exercises and review questions.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ensures Prompt Engineering is developed and used responsibly, legally and in line with organisational values. This book embeds governance as lifecycle gates - risk classification, documentation, approval and monitoring - rather than as a final checkpoint, aligning with frameworks such as the NIST AI RMF, ISO/IEC 42001 and the EU AI 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for Prompt Engineering extends traditional controls with ML-specific defences against prompt injection, data poisoning, model extraction and insecure output handling. Defence in depth - input validation, constrained decoding, output validation, sandboxed tools and continuous monitoring - is applied consistently, mapped to the OWASP LLM Top 10 and MITRE ATLAS.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A support organisation set out to apply Prompt Engineering to deterministic, schema-constrained ticket triage and routing. **Approach.** The team began with a precise objective and an evaluation set, prototyped the simplest viable design, then hardened it with monitoring, security controls and cost budgets. **Outcome.** Measured against the original metric, the system delivered durable value because the surrounding engineering - data quality, evaluation and operations - was treated as seriously as the model itself. **Lessons.** Start with measurement, resist premature complexity, and design governance and observability in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durable principles from the book.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and next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94560"/>
            <a:ext cx="10698480" cy="2743200"/>
          </a:xfrm>
          <a:prstGeom prst="rect">
            <a:avLst/>
          </a:prstGeom>
          <a:noFill/>
        </p:spPr>
        <p:txBody>
          <a:bodyPr wrap="square">
            <a:spAutoFit/>
          </a:bodyPr>
          <a:lstStyle/>
          <a:p>
            <a:r>
              <a:rPr sz="4000" b="1">
                <a:solidFill>
                  <a:srgbClr val="4338CA"/>
                </a:solidFill>
              </a:rPr>
              <a:t>Prompt Engineering: Foundations</a:t>
            </a:r>
          </a:p>
          <a:p>
            <a:r>
              <a:rPr sz="1800">
                <a:solidFill>
                  <a:srgbClr val="475569"/>
                </a:solidFill>
              </a:rPr>
              <a:t>Engineering reliable behaviour from foundation models — a foundational guide for newcomers building a rigorous base.</a:t>
            </a:r>
          </a:p>
          <a:p>
            <a:r>
              <a:rPr sz="1300">
                <a:solidFill>
                  <a:srgbClr val="475569"/>
                </a:solidFill>
              </a:rPr>
              <a:t>AI-University Press   |   Priya Narayanan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Executive Summary</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Prompt engineering is the discipline of designing inputs, context and decoding settings that steer foundation models toward reliable, useful behaviour.</a:t>
            </a:r>
          </a:p>
          <a:p>
            <a:pPr>
              <a:spcAft>
                <a:spcPts val="800"/>
              </a:spcAft>
            </a:pPr>
            <a:r>
              <a:rPr sz="1800">
                <a:solidFill>
                  <a:srgbClr val="0F172A"/>
                </a:solidFill>
              </a:rPr>
              <a:t>• It spans instruction design, in-context learning, structured output, tool use and evaluation.</a:t>
            </a:r>
          </a:p>
          <a:p>
            <a:pPr>
              <a:spcAft>
                <a:spcPts val="800"/>
              </a:spcAft>
            </a:pPr>
            <a:r>
              <a:rPr sz="1800">
                <a:solidFill>
                  <a:srgbClr val="0F172A"/>
                </a:solidFill>
              </a:rPr>
              <a:t>• In the enterprise, prompts are software: they are specified, versioned, tested and monitored.</a:t>
            </a:r>
          </a:p>
          <a:p>
            <a:pPr>
              <a:spcAft>
                <a:spcPts val="800"/>
              </a:spcAft>
            </a:pPr>
            <a:r>
              <a:rPr sz="1800">
                <a:solidFill>
                  <a:srgbClr val="0F172A"/>
                </a:solidFill>
              </a:rPr>
              <a:t>• This book elevates prompting from folklore to an engineering practice with measurable quality, regression testing and clear separation between prompt logic, retrieved context and model configuration.</a:t>
            </a:r>
          </a:p>
          <a:p>
            <a:pPr>
              <a:spcAft>
                <a:spcPts val="800"/>
              </a:spcAft>
            </a:pPr>
            <a:r>
              <a:rPr sz="1800">
                <a:solidFill>
                  <a:srgbClr val="0F172A"/>
                </a:solidFill>
              </a:rPr>
              <a:t>• This volume is written for newcomers building a rigorous base.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Learning Objectives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Explain the foundational principles of Prompt Engineering and articulate where it creates value.</a:t>
            </a:r>
          </a:p>
          <a:p>
            <a:pPr>
              <a:spcAft>
                <a:spcPts val="800"/>
              </a:spcAft>
            </a:pPr>
            <a:r>
              <a:rPr sz="1800">
                <a:solidFill>
                  <a:srgbClr val="0F172A"/>
                </a:solidFill>
              </a:rPr>
              <a:t>• Design a reference architecture for a Prompt Engineering system that meets enterprise quality attributes.</a:t>
            </a:r>
          </a:p>
          <a:p>
            <a:pPr>
              <a:spcAft>
                <a:spcPts val="800"/>
              </a:spcAft>
            </a:pPr>
            <a:r>
              <a:rPr sz="1800">
                <a:solidFill>
                  <a:srgbClr val="0F172A"/>
                </a:solidFill>
              </a:rPr>
              <a:t>• Implement core Prompt Engineering components following production engineering standards.</a:t>
            </a:r>
          </a:p>
          <a:p>
            <a:pPr>
              <a:spcAft>
                <a:spcPts val="800"/>
              </a:spcAft>
            </a:pPr>
            <a:r>
              <a:rPr sz="1800">
                <a:solidFill>
                  <a:srgbClr val="0F172A"/>
                </a:solidFill>
              </a:rPr>
              <a:t>• Evaluate Prompt Engineering systems rigorously and gate releases on measurable quality.</a:t>
            </a:r>
          </a:p>
          <a:p>
            <a:pPr>
              <a:spcAft>
                <a:spcPts val="800"/>
              </a:spcAft>
            </a:pPr>
            <a:r>
              <a:rPr sz="1800">
                <a:solidFill>
                  <a:srgbClr val="0F172A"/>
                </a:solidFill>
              </a:rPr>
              <a:t>• Apply security, privacy and governance controls appropriate to Prompt Engineering.</a:t>
            </a:r>
          </a:p>
          <a:p>
            <a:pPr>
              <a:spcAft>
                <a:spcPts val="800"/>
              </a:spcAft>
            </a:pPr>
            <a:r>
              <a:rPr sz="1800">
                <a:solidFill>
                  <a:srgbClr val="0F172A"/>
                </a:solidFill>
              </a:rPr>
              <a:t>• Operate Prompt Engineering systems reliably, controlling cost, latency and drift.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Industry Context</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Prompt Engineering sits within a rapidly maturing AI landscape in which organisations are moving from experimentation to dependable, governed deployment.</a:t>
            </a:r>
          </a:p>
          <a:p>
            <a:pPr>
              <a:spcAft>
                <a:spcPts val="800"/>
              </a:spcAft>
            </a:pPr>
            <a:r>
              <a:rPr sz="1800">
                <a:solidFill>
                  <a:srgbClr val="0F172A"/>
                </a:solidFill>
              </a:rPr>
              <a:t>• The competitive advantage no longer comes from access to models alone but from the engineering and operational discipline that turns capability into reliable, compliant business outcomes.</a:t>
            </a:r>
          </a:p>
          <a:p>
            <a:pPr>
              <a:spcAft>
                <a:spcPts val="800"/>
              </a:spcAft>
            </a:pPr>
            <a:r>
              <a:rPr sz="1800">
                <a:solidFill>
                  <a:srgbClr val="0F172A"/>
                </a:solidFill>
              </a:rPr>
              <a:t>• This book situates the subject in that context so readers can connect technical choices to organisational value.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Business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From a business perspective, Prompt Engineering initiatives must be justified by clear value: revenue growth, cost reduction, risk mitigation or improved experience.</a:t>
            </a:r>
          </a:p>
          <a:p>
            <a:pPr>
              <a:spcAft>
                <a:spcPts val="800"/>
              </a:spcAft>
            </a:pPr>
            <a:r>
              <a:rPr sz="1800">
                <a:solidFill>
                  <a:srgbClr val="0F172A"/>
                </a:solidFill>
              </a:rPr>
              <a:t>• Leaders should insist on measurable objectives, realistic unit economics that account for inference cost, and a roadmap that sequences capability against risk.</a:t>
            </a:r>
          </a:p>
          <a:p>
            <a:pPr>
              <a:spcAft>
                <a:spcPts val="800"/>
              </a:spcAft>
            </a:pPr>
            <a:r>
              <a:rPr sz="1800">
                <a:solidFill>
                  <a:srgbClr val="0F172A"/>
                </a:solidFill>
              </a:rPr>
              <a:t>• The most common failure is not technical but strategic: building capability that is never connected to a decision or workflow that matters.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Technology Overview</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The technical perspective treats Prompt Engineering as a systems discipline.</a:t>
            </a:r>
          </a:p>
          <a:p>
            <a:pPr>
              <a:spcAft>
                <a:spcPts val="800"/>
              </a:spcAft>
            </a:pPr>
            <a:r>
              <a:rPr sz="1800">
                <a:solidFill>
                  <a:srgbClr val="0F172A"/>
                </a:solidFill>
              </a:rPr>
              <a:t>• Production prompting introduces a prompt management service that stores versioned templates, an assembly layer that merges instructions with retrieved context under a token budget, and an evaluation harness that scores candidate prompts against golden datasets before promotion.</a:t>
            </a:r>
          </a:p>
          <a:p>
            <a:pPr>
              <a:spcAft>
                <a:spcPts val="800"/>
              </a:spcAft>
            </a:pPr>
            <a:r>
              <a:rPr sz="1800">
                <a:solidFill>
                  <a:srgbClr val="0F172A"/>
                </a:solidFill>
              </a:rPr>
              <a:t>• Telemetry links every completion back to the exact prompt version that produced it.</a:t>
            </a:r>
          </a:p>
          <a:p>
            <a:pPr>
              <a:spcAft>
                <a:spcPts val="800"/>
              </a:spcAft>
            </a:pPr>
            <a:r>
              <a:rPr sz="1800">
                <a:solidFill>
                  <a:srgbClr val="0F172A"/>
                </a:solidFill>
              </a:rPr>
              <a:t>• Throughout, the book favours clear interfaces, reproducibility and measurement.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Architecture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Architecturally, a Prompt Engineering platform is layered into data, model, application and operations planes, each with explicit contracts so they can evolve independently.</a:t>
            </a:r>
          </a:p>
          <a:p>
            <a:pPr>
              <a:spcAft>
                <a:spcPts val="800"/>
              </a:spcAft>
            </a:pPr>
            <a:r>
              <a:rPr sz="1800">
                <a:solidFill>
                  <a:srgbClr val="0F172A"/>
                </a:solidFill>
              </a:rPr>
              <a:t>• A model gateway centralises access and control; observability and security are cross-cutting and designed in from the start.</a:t>
            </a:r>
          </a:p>
          <a:p>
            <a:pPr>
              <a:spcAft>
                <a:spcPts val="800"/>
              </a:spcAft>
            </a:pPr>
            <a:r>
              <a:rPr sz="1800">
                <a:solidFill>
                  <a:srgbClr val="0F172A"/>
                </a:solidFill>
              </a:rPr>
              <a:t>• Reference architectures and blueprints appear in every chapter and are consolidated in the capstone.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 Anatomy of a Prompt</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anatomy of a prompt within Prompt Engineering. It covers system, developer and user roles; instructions, context, examples and output specification as distinct, composable parts,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 Zero-, One- and Few-Shot Prompting</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zero-, one- and few-shot prompting within Prompt Engineering. It covers how in-context examples shape behaviour and when demonstrations beat instructions,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3: Chain-of-Thought and Reasoning Prompts</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chain-of-thought and reasoning prompts within Prompt Engineering. It covers eliciting intermediate reasoning, self-consistency sampling and the cost/quality trade-offs of deliberate reasoning,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4: Structured Output and Schema Enforcement</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structured output and schema enforcement within Prompt Engineering. It covers jSON mode, function/tool calling and grammar-constrained decoding for reliable integration,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5: Retrieval-Augmented Prompting</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retrieval-augmented prompting within Prompt Engineering. It covers injecting grounded context, citation discipline and context-window budgeting,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6: Tool Use and Function Calling</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tool use and function calling within Prompt Engineering. It covers letting models invoke functions, search and code execution within a controlled loop,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7: Prompt Templates and Composition</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prompt templates and composition within Prompt Engineering. It covers parameterised templates, partials and guardrail wrappers for reuse at scale,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8: Decoding Parameters and Sampling</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decoding parameters and sampling within Prompt Engineering. It covers temperature, top-p, penalties and stop sequences as levers on determinism,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9: Prompt Evaluation and Regression Testing</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prompt evaluation and regression testing within Prompt Engineering. It covers golden datasets, LLM-as-judge, rubric scoring and CI gates for prompt changes,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10: Defending Against Prompt Injection</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defending against prompt injection within Prompt Engineering. It covers untrusted-content isolation, instruction hierarchy and output validation,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11: Multi-Step and Agentic Prompting</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multi-step and agentic prompting within Prompt Engineering. It covers planner/executor patterns, reflection and decomposition of complex tasks,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12: Prompt Management and Versioning</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prompt management and versioning within Prompt Engineering. It covers registries, A/B testing and rollback for production prompts,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13: Cost-Aware Prompt Design</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cost-aware prompt design within Prompt Engineering. It covers compression, context pruning and caching to control token spend,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14: Patterns, Anti-Patterns and a Style Guide</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patterns, anti-patterns and a style guide within Prompt Engineering. It covers a reusable library of prompt patterns and the failure modes to avoid,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15: Putting It Together: A Reference Implementation</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putting it together: a reference implementation within Prompt Engineering. It covers an end-to-end reference implementation that integrates the components of a Prompt Engineering system into a cohesive, working whole,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16: Hands-On Lab: Building an End-to-End Prompt Engineering System</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hands-on lab: building an end-to-end prompt engineering system within Prompt Engineering. It covers a guided, build-along laboratory that constructs a functioning Prompt Engineering system from first principles,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17: Case Study: Support at Scale</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case study: support at scale within Prompt Engineering. It covers a detailed case study of deploying Prompt Engineering in a demanding support environment, including the decisions, trade-offs and outcomes,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18: Operating in Production</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operating in production within Prompt Engineering. It covers the operational discipline required to run a Prompt Engineering system reliably, including monitoring, incident response and continuous improvement,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19: Evaluation and Quality Assurance</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evaluation and quality assurance within Prompt Engineering. It covers a rigorous approach to measuring and assuring the quality of a Prompt Engineering system before and after release,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20: Security, Privacy and Governance</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security, privacy and governance within Prompt Engineering. It covers the security, privacy and governance controls that make a Prompt Engineering system trustworthy and compliant,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21: Cost, Performance and Scaling</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cost, performance and scaling within Prompt Engineering. It covers techniques for controlling cost and latency while scaling a Prompt Engineering system to production traffic,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22: Integration and Interoperability</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integration and interoperability within Prompt Engineering. It covers patterns for integrating a Prompt Engineering system with surrounding enterprise systems and data,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23: Trends and Research Directions</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trends and research directions within Prompt Engineering. It covers emerging trends, open problems and research directions shaping the future of Prompt Engineering,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24: Capstone Project</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capstone project within Prompt Engineering. It covers a substantial capstone project that consolidates the entire book into a portfolio-grade Prompt Engineering deliverable,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Chapter 25: Certification Preparation and Review</a:t>
            </a:r>
          </a:p>
          <a:p>
            <a:r>
              <a:rPr sz="1500">
                <a:solidFill>
                  <a:srgbClr val="475569"/>
                </a:solidFill>
              </a:rPr>
              <a:t>Prompt Engineering</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This chapter examines certification preparation and review within Prompt Engineering. It covers a structured review and certification-style preparation covering the full breadth of Prompt Engineering, derives a reference architecture, walks through a worked example and runnable code, surveys industry use cases, and distils best practices and pitfalls, closing with exercises and review questions.</a:t>
            </a:r>
          </a:p>
          <a:p>
            <a:pPr>
              <a:spcAft>
                <a:spcPts val="800"/>
              </a:spcAft>
            </a:pPr>
            <a:r>
              <a:rPr sz="1800">
                <a:solidFill>
                  <a:srgbClr val="0F172A"/>
                </a:solidFill>
              </a:rPr>
              <a:t>• Theory and Foundations</a:t>
            </a:r>
          </a:p>
          <a:p>
            <a:pPr>
              <a:spcAft>
                <a:spcPts val="800"/>
              </a:spcAft>
            </a:pPr>
            <a:r>
              <a:rPr sz="1800">
                <a:solidFill>
                  <a:srgbClr val="0F172A"/>
                </a:solidFill>
              </a:rPr>
              <a:t>• Architecture and Design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Governance &amp; Responsible AI</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Governance ensures Prompt Engineering is developed and used responsibly, legally and in line with organisational values.</a:t>
            </a:r>
          </a:p>
          <a:p>
            <a:pPr>
              <a:spcAft>
                <a:spcPts val="800"/>
              </a:spcAft>
            </a:pPr>
            <a:r>
              <a:rPr sz="1800">
                <a:solidFill>
                  <a:srgbClr val="0F172A"/>
                </a:solidFill>
              </a:rPr>
              <a:t>• This book embeds governance as lifecycle gates - risk classification, documentation, approval and monitoring - rather than as a final checkpoint, aligning with frameworks such as the NIST AI RMF, ISO/IEC 42001 and the EU AI Act.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Security Perspective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Security for Prompt Engineering extends traditional controls with ML-specific defences against prompt injection, data poisoning, model extraction and insecure output handling.</a:t>
            </a:r>
          </a:p>
          <a:p>
            <a:pPr>
              <a:spcAft>
                <a:spcPts val="800"/>
              </a:spcAft>
            </a:pPr>
            <a:r>
              <a:rPr sz="1800">
                <a:solidFill>
                  <a:srgbClr val="0F172A"/>
                </a:solidFill>
              </a:rPr>
              <a:t>• Defence in depth - input validation, constrained decoding, output validation, sandboxed tools and continuous monitoring - is applied consistently, mapped to the OWASP LLM Top 10 and MITRE ATLAS.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Support: Prompt Engineering in Practice</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**Context.** A support organisation set out to apply Prompt Engineering to deterministic, schema-constrained ticket triage and routing.</a:t>
            </a:r>
          </a:p>
          <a:p>
            <a:pPr>
              <a:spcAft>
                <a:spcPts val="800"/>
              </a:spcAft>
            </a:pPr>
            <a:r>
              <a:rPr sz="1800">
                <a:solidFill>
                  <a:srgbClr val="0F172A"/>
                </a:solidFill>
              </a:rPr>
              <a:t>• **Approach.** The team began with a precise objective and an evaluation set, prototyped the simplest viable design, then hardened it with monitoring, security controls and cost budgets.</a:t>
            </a:r>
          </a:p>
          <a:p>
            <a:pPr>
              <a:spcAft>
                <a:spcPts val="800"/>
              </a:spcAft>
            </a:pPr>
            <a:r>
              <a:rPr sz="1800">
                <a:solidFill>
                  <a:srgbClr val="0F172A"/>
                </a:solidFill>
              </a:rPr>
              <a:t>• **Outcome.** Measured against the original metric, the system delivered durable value because the surrounding engineering - data quality, evaluation and operations - was treated as seriously as the model itself.</a:t>
            </a:r>
          </a:p>
          <a:p>
            <a:pPr>
              <a:spcAft>
                <a:spcPts val="800"/>
              </a:spcAft>
            </a:pPr>
            <a:r>
              <a:rPr sz="1800">
                <a:solidFill>
                  <a:srgbClr val="0F172A"/>
                </a:solidFill>
              </a:rPr>
              <a:t>• **Lessons.** Start with measurement, resist premature complexity, and design governance and observability in from day one.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Key Takeaways</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Treat AI as a systems discipline: data, models and operations together.</a:t>
            </a:r>
          </a:p>
          <a:p>
            <a:pPr>
              <a:spcAft>
                <a:spcPts val="800"/>
              </a:spcAft>
            </a:pPr>
            <a:r>
              <a:rPr sz="1800">
                <a:solidFill>
                  <a:srgbClr val="0F172A"/>
                </a:solidFill>
              </a:rPr>
              <a:t>• Measure everything; gate releases on evaluation, not intuition.</a:t>
            </a:r>
          </a:p>
          <a:p>
            <a:pPr>
              <a:spcAft>
                <a:spcPts val="800"/>
              </a:spcAft>
            </a:pPr>
            <a:r>
              <a:rPr sz="1800">
                <a:solidFill>
                  <a:srgbClr val="0F172A"/>
                </a:solidFill>
              </a:rPr>
              <a:t>• Design security, governance and cost controls in from the start.</a:t>
            </a:r>
          </a:p>
          <a:p>
            <a:pPr>
              <a:spcAft>
                <a:spcPts val="800"/>
              </a:spcAft>
            </a:pPr>
            <a:r>
              <a:rPr sz="1800">
                <a:solidFill>
                  <a:srgbClr val="0F172A"/>
                </a:solidFill>
              </a:rPr>
              <a:t>• Prefer the simplest design that meets the requirement.</a:t>
            </a:r>
          </a:p>
          <a:p>
            <a:pPr>
              <a:spcAft>
                <a:spcPts val="800"/>
              </a:spcAft>
            </a:pPr>
            <a:r>
              <a:rPr sz="1800">
                <a:solidFill>
                  <a:srgbClr val="0F172A"/>
                </a:solidFill>
              </a:rPr>
              <a:t>• Operate continuously: monitor, learn and improve.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2191695" cy="164592"/>
          </a:xfrm>
          <a:prstGeom prst="rect">
            <a:avLst/>
          </a:prstGeom>
          <a:noFill/>
        </p:spPr>
        <p:txBody>
          <a:bodyPr wrap="none">
            <a:spAutoFit/>
          </a:bodyPr>
          <a:lstStyle/>
          <a:p/>
        </p:txBody>
      </p:sp>
      <p:sp>
        <p:nvSpPr>
          <p:cNvPr id="3" name="TextBox 2"/>
          <p:cNvSpPr txBox="1"/>
          <p:nvPr/>
        </p:nvSpPr>
        <p:spPr>
          <a:xfrm>
            <a:off x="548640" y="365760"/>
            <a:ext cx="11064240" cy="914400"/>
          </a:xfrm>
          <a:prstGeom prst="rect">
            <a:avLst/>
          </a:prstGeom>
          <a:noFill/>
        </p:spPr>
        <p:txBody>
          <a:bodyPr wrap="square">
            <a:spAutoFit/>
          </a:bodyPr>
          <a:lstStyle/>
          <a:p>
            <a:r>
              <a:rPr sz="3000" b="1">
                <a:solidFill>
                  <a:srgbClr val="4338CA"/>
                </a:solidFill>
              </a:rPr>
              <a:t>Thank You</a:t>
            </a:r>
          </a:p>
        </p:txBody>
      </p:sp>
      <p:sp>
        <p:nvSpPr>
          <p:cNvPr id="4" name="TextBox 3"/>
          <p:cNvSpPr txBox="1"/>
          <p:nvPr/>
        </p:nvSpPr>
        <p:spPr>
          <a:xfrm>
            <a:off x="640080" y="1554480"/>
            <a:ext cx="10972800" cy="4754880"/>
          </a:xfrm>
          <a:prstGeom prst="rect">
            <a:avLst/>
          </a:prstGeom>
          <a:noFill/>
        </p:spPr>
        <p:txBody>
          <a:bodyPr wrap="square">
            <a:spAutoFit/>
          </a:bodyPr>
          <a:lstStyle/>
          <a:p>
            <a:pPr>
              <a:spcAft>
                <a:spcPts val="800"/>
              </a:spcAft>
            </a:pPr>
            <a:r>
              <a:rPr sz="1800">
                <a:solidFill>
                  <a:srgbClr val="0F172A"/>
                </a:solidFill>
              </a:rPr>
              <a:t>• Prompt Engineering: Foundations</a:t>
            </a:r>
          </a:p>
          <a:p>
            <a:pPr>
              <a:spcAft>
                <a:spcPts val="800"/>
              </a:spcAft>
            </a:pPr>
            <a:r>
              <a:rPr sz="1800">
                <a:solidFill>
                  <a:srgbClr val="0F172A"/>
                </a:solidFill>
              </a:rPr>
              <a:t>• AI-University Press — Enterprise AI Knowledge Series</a:t>
            </a:r>
          </a:p>
          <a:p>
            <a:pPr>
              <a:spcAft>
                <a:spcPts val="800"/>
              </a:spcAft>
            </a:pPr>
            <a:r>
              <a:rPr sz="1800">
                <a:solidFill>
                  <a:srgbClr val="0F172A"/>
                </a:solidFill>
              </a:rPr>
              <a:t>• ISBN 978-1-14477-466-8  |  v1.0.0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